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53" r:id="rId3"/>
    <p:sldId id="361" r:id="rId4"/>
    <p:sldId id="362" r:id="rId5"/>
    <p:sldId id="363" r:id="rId6"/>
    <p:sldId id="364" r:id="rId7"/>
    <p:sldId id="354" r:id="rId8"/>
    <p:sldId id="355" r:id="rId9"/>
    <p:sldId id="360" r:id="rId10"/>
    <p:sldId id="356" r:id="rId11"/>
    <p:sldId id="365" r:id="rId12"/>
    <p:sldId id="357" r:id="rId13"/>
    <p:sldId id="358" r:id="rId14"/>
    <p:sldId id="3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33"/>
  </p:normalViewPr>
  <p:slideViewPr>
    <p:cSldViewPr snapToGrid="0">
      <p:cViewPr varScale="1">
        <p:scale>
          <a:sx n="111" d="100"/>
          <a:sy n="111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0915-8C89-2526-82BA-9C87555BC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81033-21AA-9C8A-D2C2-CB41EE89D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B1225-7774-BE09-C6FA-354FF0C8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D347B-5BA4-6C23-2B48-4FBA713D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2DCED-CD22-791E-332E-D4966E99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2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5373-DA9D-4ED4-836E-A0E63E14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63B7-EC4A-C8F3-4D17-1272DDF3D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F75D5-BD2D-5FBE-5277-E50DAA5A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755B2-3C9F-8F4D-8158-6BF9BBF3D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2F6E5-C3DA-3484-0B03-588A910E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71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53B8-AE41-B3A3-0CDB-367269769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52BBC-40EF-BFDC-8ADF-B32183E7D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BF54A-D9C7-EFB5-7834-1D1F386B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E0D5F-4FBA-F9C9-750A-9A317150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662F4-4A35-704C-4A87-50C2D623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1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318A-2CF8-EA49-F5D4-F0D126CF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CFBB2-AD77-2E4A-AE2D-97F8CCA0B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1AC31-158F-CBA2-F138-CAD5F7AB4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960AA-1789-359C-0604-1171FA017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8D5E9-AC8B-96DC-4DF7-AB42ECD0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005AD-99BE-6370-652B-96B4DC0E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4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1EBA8-AAEB-3AE0-C216-14FDC348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B57C0-8F2D-36C8-C1A0-8700F911A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7A1D7-AF65-00CE-41A0-2D4332CAF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AED2A-272C-5564-E8A8-470CA873B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01E61-35A0-A969-0513-E4BE839F9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A4D95-A1A1-F12F-8939-743D95C7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C42D27-CF6F-FB03-D433-3230ADDF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45511-7413-D24A-8E91-D0174CD2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72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8085-AF4F-57BB-B8ED-7E0847883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B1628-9BBE-1EC6-6C3B-75F067F73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64861-60F0-F943-085E-BC5DBE6D6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6F810-B201-05DC-58F6-EFE4220D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3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B4B9E8-53D2-72CF-2745-14070414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D662A-AFB0-3730-E288-96EAAC09F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EBCA1-255D-8CA5-EC7F-5E177EC5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B202-2951-9A16-93B4-E809CF61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341CC-FFFA-0F18-F268-09D841DDC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1219A-C912-5109-35CD-1680144DE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CFB9B-6414-C608-5234-E646C4558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66CE2-4C56-DFAF-2C2C-B5323C3DC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7A450-C675-E830-E7C2-4B46993F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3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7A81-E53F-7959-5B17-FA434528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2A7C7-EF4D-6944-F1B3-1B02E4C12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FDD5F-555D-45B6-BE4A-863831B5E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A8A3B-48EE-A579-12F4-467BBA53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3914D-212A-AD5A-A183-1CB1B8CD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B9000-AC81-9A6F-B3A9-F38F33B1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45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5680-7119-489B-3D6D-59B71829B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51A4C-E3AC-C18E-0CBB-30FA323E3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C9F01-D442-3171-0069-576455CA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A0140-FD1E-FF88-1276-DE87415A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88311-6470-9A26-C995-96852E97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9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4668D-5972-C4F1-C50E-D57C63FF2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27CA1-935D-34A2-DD24-1E7C6075A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698E9-2793-B489-591D-259373456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23D04-B97D-B3A2-E301-09B2DE4C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5E600-54B4-3621-583C-03A33DAF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8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A98EF0-55D1-A400-DA36-923C302FA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F016A-43BE-D8B4-4F13-769B791F3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E1839-23B0-6654-8423-9FD6C490A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84DCD-1D29-504C-9AAD-79B28E7FFD1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46504-BB46-B553-2E98-50AD7A990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EAFD0-89F1-5CF2-DF32-0B4421BC5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CCD2E-1998-8447-8AC5-29E92CB72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8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microsoft.com/office/2007/relationships/hdphoto" Target="../media/hdphoto9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2.wdp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80B4-C927-C117-6D39-7690F8BB31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Nuclease Assays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9AACC-1477-183F-1F1E-72D6281B05BA}"/>
              </a:ext>
            </a:extLst>
          </p:cNvPr>
          <p:cNvSpPr txBox="1"/>
          <p:nvPr/>
        </p:nvSpPr>
        <p:spPr>
          <a:xfrm>
            <a:off x="5405377" y="3509963"/>
            <a:ext cx="1613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Supplementary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3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C78DF9-AF71-4513-2D6C-5FA280425B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1567" t="-4430" r="-1561" b="-2972"/>
          <a:stretch/>
        </p:blipFill>
        <p:spPr>
          <a:xfrm flipV="1">
            <a:off x="2270396" y="2296722"/>
            <a:ext cx="7269019" cy="3028089"/>
          </a:xfrm>
          <a:prstGeom prst="rect">
            <a:avLst/>
          </a:prstGeom>
          <a:ln w="9525"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CF7ABCA-DE47-9B67-B078-8C7380442DE4}"/>
              </a:ext>
            </a:extLst>
          </p:cNvPr>
          <p:cNvSpPr txBox="1"/>
          <p:nvPr/>
        </p:nvSpPr>
        <p:spPr>
          <a:xfrm>
            <a:off x="3506330" y="2089624"/>
            <a:ext cx="61398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   -       2       5      10     15      30     45     60       -       2       5      10     15      30     45     60    Time (min)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C79E18C-CD45-BA60-CFD6-FC19A45657F2}"/>
              </a:ext>
            </a:extLst>
          </p:cNvPr>
          <p:cNvGrpSpPr/>
          <p:nvPr/>
        </p:nvGrpSpPr>
        <p:grpSpPr>
          <a:xfrm>
            <a:off x="4269537" y="1370099"/>
            <a:ext cx="991433" cy="378534"/>
            <a:chOff x="2504372" y="1302608"/>
            <a:chExt cx="991433" cy="378534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D3CC965-0A16-ED26-266D-7789211F7056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778163" cy="0"/>
            </a:xfrm>
            <a:prstGeom prst="line">
              <a:avLst/>
            </a:prstGeom>
            <a:ln w="19050">
              <a:solidFill>
                <a:srgbClr val="FF4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41D0E60-DD71-BB33-4E0B-416A2F8F04F4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F4E5351-63C4-E110-8F80-49143D25968D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2736342-B3B2-1F03-D342-0A3D39CA42A1}"/>
                </a:ext>
              </a:extLst>
            </p:cNvPr>
            <p:cNvSpPr txBox="1"/>
            <p:nvPr/>
          </p:nvSpPr>
          <p:spPr>
            <a:xfrm>
              <a:off x="2854891" y="1302608"/>
              <a:ext cx="5036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40FF"/>
                  </a:solidFill>
                  <a:latin typeface="Helvetica" pitchFamily="2" charset="0"/>
                </a:rPr>
                <a:t>ssRNA</a:t>
              </a:r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AFF691-1656-FFE1-6129-43F56006A6DE}"/>
              </a:ext>
            </a:extLst>
          </p:cNvPr>
          <p:cNvCxnSpPr>
            <a:cxnSpLocks/>
          </p:cNvCxnSpPr>
          <p:nvPr/>
        </p:nvCxnSpPr>
        <p:spPr>
          <a:xfrm>
            <a:off x="6950519" y="1643887"/>
            <a:ext cx="778163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38284B20-5F56-F508-E194-45BD5A3EE5F9}"/>
              </a:ext>
            </a:extLst>
          </p:cNvPr>
          <p:cNvSpPr/>
          <p:nvPr/>
        </p:nvSpPr>
        <p:spPr>
          <a:xfrm>
            <a:off x="6940415" y="1618052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B73073-41B2-E720-8182-943AE213C429}"/>
              </a:ext>
            </a:extLst>
          </p:cNvPr>
          <p:cNvSpPr txBox="1"/>
          <p:nvPr/>
        </p:nvSpPr>
        <p:spPr>
          <a:xfrm>
            <a:off x="6737249" y="1533189"/>
            <a:ext cx="2648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5’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05E74F-F88C-558C-CFE6-DB7B38682CC8}"/>
              </a:ext>
            </a:extLst>
          </p:cNvPr>
          <p:cNvSpPr txBox="1"/>
          <p:nvPr/>
        </p:nvSpPr>
        <p:spPr>
          <a:xfrm>
            <a:off x="7033018" y="1370099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</a:rPr>
              <a:t>RNA*-</a:t>
            </a:r>
            <a:r>
              <a:rPr lang="en-US" sz="800" dirty="0">
                <a:solidFill>
                  <a:srgbClr val="E37201"/>
                </a:solidFill>
                <a:latin typeface="Helvetica" pitchFamily="2" charset="0"/>
              </a:rPr>
              <a:t>DNA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F3263D5-F6CF-C5CC-7CA7-B69A649104D3}"/>
              </a:ext>
            </a:extLst>
          </p:cNvPr>
          <p:cNvCxnSpPr>
            <a:cxnSpLocks/>
          </p:cNvCxnSpPr>
          <p:nvPr/>
        </p:nvCxnSpPr>
        <p:spPr>
          <a:xfrm>
            <a:off x="6950519" y="1731476"/>
            <a:ext cx="778163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E261428-BFB9-13AB-95FC-E1B7D1F0FBBF}"/>
              </a:ext>
            </a:extLst>
          </p:cNvPr>
          <p:cNvCxnSpPr>
            <a:cxnSpLocks/>
          </p:cNvCxnSpPr>
          <p:nvPr/>
        </p:nvCxnSpPr>
        <p:spPr>
          <a:xfrm>
            <a:off x="3618050" y="1895162"/>
            <a:ext cx="245210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1B62CBD-EA46-D873-2DA1-9E947E371DCD}"/>
              </a:ext>
            </a:extLst>
          </p:cNvPr>
          <p:cNvCxnSpPr>
            <a:cxnSpLocks/>
          </p:cNvCxnSpPr>
          <p:nvPr/>
        </p:nvCxnSpPr>
        <p:spPr>
          <a:xfrm>
            <a:off x="6197362" y="1895162"/>
            <a:ext cx="241036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85AD5D-2E66-ABE6-2955-6D1ECE7A875F}"/>
              </a:ext>
            </a:extLst>
          </p:cNvPr>
          <p:cNvSpPr txBox="1"/>
          <p:nvPr/>
        </p:nvSpPr>
        <p:spPr>
          <a:xfrm>
            <a:off x="308919" y="358346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6B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60902-4B76-0EF5-C927-80C14325FA10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2349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C2EF90-97A4-6318-1D6A-38C4816BFC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6000"/>
                    </a14:imgEffect>
                  </a14:imgLayer>
                </a14:imgProps>
              </a:ext>
            </a:extLst>
          </a:blip>
          <a:srcRect l="-886" t="-5471" r="-6147" b="-5313"/>
          <a:stretch/>
        </p:blipFill>
        <p:spPr>
          <a:xfrm>
            <a:off x="2434293" y="2266289"/>
            <a:ext cx="8093664" cy="2014153"/>
          </a:xfrm>
          <a:prstGeom prst="rect">
            <a:avLst/>
          </a:prstGeom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2D42BD-986B-676C-42B7-70ECD22BBB17}"/>
              </a:ext>
            </a:extLst>
          </p:cNvPr>
          <p:cNvCxnSpPr>
            <a:cxnSpLocks/>
          </p:cNvCxnSpPr>
          <p:nvPr/>
        </p:nvCxnSpPr>
        <p:spPr>
          <a:xfrm>
            <a:off x="2356632" y="3077512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A8D156-FD2C-F89D-BD22-4B24B0E68B8A}"/>
              </a:ext>
            </a:extLst>
          </p:cNvPr>
          <p:cNvCxnSpPr>
            <a:cxnSpLocks/>
          </p:cNvCxnSpPr>
          <p:nvPr/>
        </p:nvCxnSpPr>
        <p:spPr>
          <a:xfrm>
            <a:off x="2356632" y="3192620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B8F1BD-91D5-3196-C73C-BC2ECD2E7FB5}"/>
              </a:ext>
            </a:extLst>
          </p:cNvPr>
          <p:cNvCxnSpPr>
            <a:cxnSpLocks/>
          </p:cNvCxnSpPr>
          <p:nvPr/>
        </p:nvCxnSpPr>
        <p:spPr>
          <a:xfrm>
            <a:off x="2356632" y="3298423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652F9FB-E0C4-720F-A8BD-765980687CA3}"/>
              </a:ext>
            </a:extLst>
          </p:cNvPr>
          <p:cNvSpPr txBox="1"/>
          <p:nvPr/>
        </p:nvSpPr>
        <p:spPr>
          <a:xfrm>
            <a:off x="2018529" y="2955472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20mer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24B8A-C25D-07F6-3CB4-78D9DE133340}"/>
              </a:ext>
            </a:extLst>
          </p:cNvPr>
          <p:cNvSpPr txBox="1"/>
          <p:nvPr/>
        </p:nvSpPr>
        <p:spPr>
          <a:xfrm>
            <a:off x="2018529" y="3186437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18mer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3B5D52-7E77-12A6-2094-7B4732B74EDE}"/>
              </a:ext>
            </a:extLst>
          </p:cNvPr>
          <p:cNvSpPr txBox="1"/>
          <p:nvPr/>
        </p:nvSpPr>
        <p:spPr>
          <a:xfrm>
            <a:off x="2018529" y="3979617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12mer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38AA72-04FA-035C-D76C-BA2CFE497BCC}"/>
              </a:ext>
            </a:extLst>
          </p:cNvPr>
          <p:cNvSpPr txBox="1"/>
          <p:nvPr/>
        </p:nvSpPr>
        <p:spPr>
          <a:xfrm>
            <a:off x="2018529" y="3416478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16mer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4EA93-D7CA-0BA0-F8FF-6D7F7EFA666C}"/>
              </a:ext>
            </a:extLst>
          </p:cNvPr>
          <p:cNvSpPr txBox="1"/>
          <p:nvPr/>
        </p:nvSpPr>
        <p:spPr>
          <a:xfrm>
            <a:off x="2018529" y="3707092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14mer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E45904-52A1-BDAF-0EDA-9D5F385CE53F}"/>
              </a:ext>
            </a:extLst>
          </p:cNvPr>
          <p:cNvSpPr txBox="1"/>
          <p:nvPr/>
        </p:nvSpPr>
        <p:spPr>
          <a:xfrm>
            <a:off x="2018529" y="3837502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13mer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866762-49AA-B48B-6058-8073A8A4484D}"/>
              </a:ext>
            </a:extLst>
          </p:cNvPr>
          <p:cNvCxnSpPr>
            <a:cxnSpLocks/>
          </p:cNvCxnSpPr>
          <p:nvPr/>
        </p:nvCxnSpPr>
        <p:spPr>
          <a:xfrm>
            <a:off x="2356632" y="3413094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569834-2999-F9F3-3641-54B520F607E0}"/>
              </a:ext>
            </a:extLst>
          </p:cNvPr>
          <p:cNvCxnSpPr>
            <a:cxnSpLocks/>
          </p:cNvCxnSpPr>
          <p:nvPr/>
        </p:nvCxnSpPr>
        <p:spPr>
          <a:xfrm>
            <a:off x="2356632" y="3534351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D81553-30B4-50F2-6049-3361805A0577}"/>
              </a:ext>
            </a:extLst>
          </p:cNvPr>
          <p:cNvCxnSpPr>
            <a:cxnSpLocks/>
          </p:cNvCxnSpPr>
          <p:nvPr/>
        </p:nvCxnSpPr>
        <p:spPr>
          <a:xfrm>
            <a:off x="2356632" y="3674509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358915-EA66-E952-8F0F-7DC9585945E0}"/>
              </a:ext>
            </a:extLst>
          </p:cNvPr>
          <p:cNvCxnSpPr>
            <a:cxnSpLocks/>
          </p:cNvCxnSpPr>
          <p:nvPr/>
        </p:nvCxnSpPr>
        <p:spPr>
          <a:xfrm>
            <a:off x="2356632" y="3826263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3493F6-52A9-0788-6408-6D0D03D1A6E9}"/>
              </a:ext>
            </a:extLst>
          </p:cNvPr>
          <p:cNvCxnSpPr>
            <a:cxnSpLocks/>
          </p:cNvCxnSpPr>
          <p:nvPr/>
        </p:nvCxnSpPr>
        <p:spPr>
          <a:xfrm>
            <a:off x="2356632" y="3953693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80D855-53AD-B6CC-74C5-1B228BFC5F92}"/>
              </a:ext>
            </a:extLst>
          </p:cNvPr>
          <p:cNvCxnSpPr>
            <a:cxnSpLocks/>
          </p:cNvCxnSpPr>
          <p:nvPr/>
        </p:nvCxnSpPr>
        <p:spPr>
          <a:xfrm>
            <a:off x="2356632" y="4097568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E245044-9A1C-F19A-FC98-55C4479C11AA}"/>
              </a:ext>
            </a:extLst>
          </p:cNvPr>
          <p:cNvSpPr txBox="1"/>
          <p:nvPr/>
        </p:nvSpPr>
        <p:spPr>
          <a:xfrm>
            <a:off x="2012267" y="3557557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15mer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12E422-CB63-C95D-BF57-4EEBBE83FA60}"/>
              </a:ext>
            </a:extLst>
          </p:cNvPr>
          <p:cNvSpPr txBox="1"/>
          <p:nvPr/>
        </p:nvSpPr>
        <p:spPr>
          <a:xfrm>
            <a:off x="2019045" y="3299766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17mer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3BB65D-4258-A800-B5C1-CC06C5C64B88}"/>
              </a:ext>
            </a:extLst>
          </p:cNvPr>
          <p:cNvSpPr txBox="1"/>
          <p:nvPr/>
        </p:nvSpPr>
        <p:spPr>
          <a:xfrm>
            <a:off x="2019561" y="3076438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19mer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6F5AE-FC5A-0D8D-739D-24C3E4F75BA4}"/>
              </a:ext>
            </a:extLst>
          </p:cNvPr>
          <p:cNvSpPr txBox="1"/>
          <p:nvPr/>
        </p:nvSpPr>
        <p:spPr>
          <a:xfrm>
            <a:off x="444843" y="333632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6A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A9D26-8A38-1035-645C-2393C709E80A}"/>
              </a:ext>
            </a:extLst>
          </p:cNvPr>
          <p:cNvSpPr/>
          <p:nvPr/>
        </p:nvSpPr>
        <p:spPr>
          <a:xfrm>
            <a:off x="1925658" y="1458096"/>
            <a:ext cx="1079222" cy="3225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D5E5B5-93DE-0CB9-B8B7-C2F71B62F9E2}"/>
              </a:ext>
            </a:extLst>
          </p:cNvPr>
          <p:cNvSpPr txBox="1"/>
          <p:nvPr/>
        </p:nvSpPr>
        <p:spPr>
          <a:xfrm>
            <a:off x="2121264" y="1941444"/>
            <a:ext cx="688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Ladder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916244-C750-520C-4F3E-417AF1FF3B1B}"/>
              </a:ext>
            </a:extLst>
          </p:cNvPr>
          <p:cNvCxnSpPr>
            <a:cxnSpLocks/>
          </p:cNvCxnSpPr>
          <p:nvPr/>
        </p:nvCxnSpPr>
        <p:spPr>
          <a:xfrm>
            <a:off x="2340176" y="2795709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B31FBD5-DE31-CB4B-C1C2-72835D662272}"/>
              </a:ext>
            </a:extLst>
          </p:cNvPr>
          <p:cNvSpPr txBox="1"/>
          <p:nvPr/>
        </p:nvSpPr>
        <p:spPr>
          <a:xfrm>
            <a:off x="2002073" y="2673669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23mer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7F6B781-10B6-8C1E-9C37-C897A2AB9984}"/>
              </a:ext>
            </a:extLst>
          </p:cNvPr>
          <p:cNvCxnSpPr>
            <a:cxnSpLocks/>
          </p:cNvCxnSpPr>
          <p:nvPr/>
        </p:nvCxnSpPr>
        <p:spPr>
          <a:xfrm>
            <a:off x="2340176" y="2658542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36AA941-4E01-51A2-2C50-C7C8572DF7FB}"/>
              </a:ext>
            </a:extLst>
          </p:cNvPr>
          <p:cNvSpPr txBox="1"/>
          <p:nvPr/>
        </p:nvSpPr>
        <p:spPr>
          <a:xfrm>
            <a:off x="2002073" y="2536502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25mer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F6429-B5FE-1EDC-A9D6-273A68F73892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826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40EBF0-402A-03A1-330B-E03FE671A5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276" t="-2584" r="-1781" b="-2567"/>
          <a:stretch/>
        </p:blipFill>
        <p:spPr>
          <a:xfrm>
            <a:off x="2343363" y="1505388"/>
            <a:ext cx="6852071" cy="5200420"/>
          </a:xfrm>
          <a:prstGeom prst="rect">
            <a:avLst/>
          </a:prstGeom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5F00431-5513-6C6F-66A8-D665AFF9DEC2}"/>
              </a:ext>
            </a:extLst>
          </p:cNvPr>
          <p:cNvSpPr txBox="1"/>
          <p:nvPr/>
        </p:nvSpPr>
        <p:spPr>
          <a:xfrm>
            <a:off x="3186921" y="1336304"/>
            <a:ext cx="6527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             0                                                     500      0                                                     500 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1B6D9529-0BD5-48BC-7A4D-14BCA37A8EF4}"/>
              </a:ext>
            </a:extLst>
          </p:cNvPr>
          <p:cNvSpPr/>
          <p:nvPr/>
        </p:nvSpPr>
        <p:spPr>
          <a:xfrm flipH="1">
            <a:off x="3740508" y="1034124"/>
            <a:ext cx="2028891" cy="24622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2F267B5D-1F4F-7B02-EF61-098C0479B4C4}"/>
              </a:ext>
            </a:extLst>
          </p:cNvPr>
          <p:cNvSpPr/>
          <p:nvPr/>
        </p:nvSpPr>
        <p:spPr>
          <a:xfrm flipH="1">
            <a:off x="6067396" y="1034124"/>
            <a:ext cx="2028891" cy="24622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4DBF2B-166E-2331-B4C0-FEBF012FB104}"/>
              </a:ext>
            </a:extLst>
          </p:cNvPr>
          <p:cNvGrpSpPr/>
          <p:nvPr/>
        </p:nvGrpSpPr>
        <p:grpSpPr>
          <a:xfrm>
            <a:off x="4259237" y="245920"/>
            <a:ext cx="991433" cy="378534"/>
            <a:chOff x="2504372" y="1302608"/>
            <a:chExt cx="991433" cy="378534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11FDDC2-6B5C-9489-0419-DEF94B05AB3D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778163" cy="0"/>
            </a:xfrm>
            <a:prstGeom prst="line">
              <a:avLst/>
            </a:prstGeom>
            <a:ln w="19050">
              <a:solidFill>
                <a:srgbClr val="FF4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FA4756B-A4CE-8151-3D13-1C3608574206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29BEB16-AA16-8AC1-CA3D-76102E7BEDAE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B2084E-7C3D-3E83-D9E2-C1E0194B5FA4}"/>
                </a:ext>
              </a:extLst>
            </p:cNvPr>
            <p:cNvSpPr txBox="1"/>
            <p:nvPr/>
          </p:nvSpPr>
          <p:spPr>
            <a:xfrm>
              <a:off x="2854891" y="1302608"/>
              <a:ext cx="5036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40FF"/>
                  </a:solidFill>
                  <a:latin typeface="Helvetica" pitchFamily="2" charset="0"/>
                </a:rPr>
                <a:t>ssRNA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A10A82D-A156-6BDD-0016-FCC69E9B7DA0}"/>
              </a:ext>
            </a:extLst>
          </p:cNvPr>
          <p:cNvGrpSpPr/>
          <p:nvPr/>
        </p:nvGrpSpPr>
        <p:grpSpPr>
          <a:xfrm>
            <a:off x="6569424" y="245920"/>
            <a:ext cx="991433" cy="378534"/>
            <a:chOff x="6407049" y="1953533"/>
            <a:chExt cx="991433" cy="37853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04A98B4-2E80-2EB2-ACD7-C394CAD36126}"/>
                </a:ext>
              </a:extLst>
            </p:cNvPr>
            <p:cNvGrpSpPr/>
            <p:nvPr/>
          </p:nvGrpSpPr>
          <p:grpSpPr>
            <a:xfrm>
              <a:off x="6407049" y="1953533"/>
              <a:ext cx="991433" cy="378534"/>
              <a:chOff x="2504372" y="1302608"/>
              <a:chExt cx="991433" cy="37853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2B9AB22-26C6-17FE-4C68-7F107E7A7E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7642" y="1576396"/>
                <a:ext cx="778163" cy="0"/>
              </a:xfrm>
              <a:prstGeom prst="line">
                <a:avLst/>
              </a:prstGeom>
              <a:ln w="19050">
                <a:solidFill>
                  <a:srgbClr val="FF4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AA014E2-11F6-D8C6-3587-ADD6EEAFB74C}"/>
                  </a:ext>
                </a:extLst>
              </p:cNvPr>
              <p:cNvSpPr/>
              <p:nvPr/>
            </p:nvSpPr>
            <p:spPr>
              <a:xfrm>
                <a:off x="2707538" y="1550561"/>
                <a:ext cx="46180" cy="45719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B4420B-5668-9E0F-B315-A42AEB33F998}"/>
                  </a:ext>
                </a:extLst>
              </p:cNvPr>
              <p:cNvSpPr txBox="1"/>
              <p:nvPr/>
            </p:nvSpPr>
            <p:spPr>
              <a:xfrm>
                <a:off x="2504372" y="1465698"/>
                <a:ext cx="2648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5’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62B2DA3-BEF7-800B-1C4E-7C8656CE6867}"/>
                  </a:ext>
                </a:extLst>
              </p:cNvPr>
              <p:cNvSpPr txBox="1"/>
              <p:nvPr/>
            </p:nvSpPr>
            <p:spPr>
              <a:xfrm>
                <a:off x="2800141" y="1302608"/>
                <a:ext cx="69121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40FF"/>
                    </a:solidFill>
                    <a:latin typeface="Helvetica" pitchFamily="2" charset="0"/>
                  </a:rPr>
                  <a:t>RNA*-</a:t>
                </a:r>
                <a:r>
                  <a:rPr lang="en-US" sz="800" dirty="0">
                    <a:solidFill>
                      <a:srgbClr val="E37201"/>
                    </a:solidFill>
                    <a:latin typeface="Helvetica" pitchFamily="2" charset="0"/>
                  </a:rPr>
                  <a:t>DNA</a:t>
                </a:r>
              </a:p>
            </p:txBody>
          </p: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57879FD-3A10-A5D7-6489-782206B2CCB3}"/>
                </a:ext>
              </a:extLst>
            </p:cNvPr>
            <p:cNvCxnSpPr>
              <a:cxnSpLocks/>
            </p:cNvCxnSpPr>
            <p:nvPr/>
          </p:nvCxnSpPr>
          <p:spPr>
            <a:xfrm>
              <a:off x="6620319" y="2314910"/>
              <a:ext cx="778163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0A8EDB3-72C5-D2A0-BD79-54B9EEA55FD5}"/>
              </a:ext>
            </a:extLst>
          </p:cNvPr>
          <p:cNvCxnSpPr>
            <a:cxnSpLocks/>
          </p:cNvCxnSpPr>
          <p:nvPr/>
        </p:nvCxnSpPr>
        <p:spPr>
          <a:xfrm>
            <a:off x="3740508" y="809080"/>
            <a:ext cx="202889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7AF295-F132-E547-E8C0-F4D3C8A7A91A}"/>
              </a:ext>
            </a:extLst>
          </p:cNvPr>
          <p:cNvCxnSpPr>
            <a:cxnSpLocks/>
          </p:cNvCxnSpPr>
          <p:nvPr/>
        </p:nvCxnSpPr>
        <p:spPr>
          <a:xfrm>
            <a:off x="6033993" y="809080"/>
            <a:ext cx="206229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D06F5AE-FC5A-0D8D-739D-24C3E4F75BA4}"/>
              </a:ext>
            </a:extLst>
          </p:cNvPr>
          <p:cNvSpPr txBox="1"/>
          <p:nvPr/>
        </p:nvSpPr>
        <p:spPr>
          <a:xfrm>
            <a:off x="444843" y="333632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6A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FDCD5-5C8C-E036-6FCC-661F8188BC0B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767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6BDAC3-D6F8-F2FE-7414-DCAF17F438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2599" t="-6117" r="-2814" b="-6371"/>
          <a:stretch/>
        </p:blipFill>
        <p:spPr>
          <a:xfrm>
            <a:off x="2400300" y="2135975"/>
            <a:ext cx="6286499" cy="3253494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195DF4-44CE-9760-8528-6CF25108AE9E}"/>
              </a:ext>
            </a:extLst>
          </p:cNvPr>
          <p:cNvSpPr txBox="1"/>
          <p:nvPr/>
        </p:nvSpPr>
        <p:spPr>
          <a:xfrm>
            <a:off x="2671574" y="1937533"/>
            <a:ext cx="68756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10    0     0.5    1     2      5     10    10     0     0.5    1     2      5     10     1     0     0.05   0.1   0.2   0.5    1     mM ions      </a:t>
            </a:r>
          </a:p>
          <a:p>
            <a:r>
              <a:rPr lang="en-US" sz="1000" dirty="0">
                <a:latin typeface="Helvetica" pitchFamily="2" charset="0"/>
              </a:rPr>
              <a:t>    </a:t>
            </a:r>
          </a:p>
          <a:p>
            <a:r>
              <a:rPr lang="en-US" sz="1000" dirty="0">
                <a:latin typeface="Helvetica" pitchFamily="2" charset="0"/>
              </a:rPr>
              <a:t>    </a:t>
            </a:r>
          </a:p>
          <a:p>
            <a:endParaRPr lang="en-US" sz="10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8112D-7897-8D10-0DEF-A5BA808065E0}"/>
              </a:ext>
            </a:extLst>
          </p:cNvPr>
          <p:cNvSpPr txBox="1"/>
          <p:nvPr/>
        </p:nvSpPr>
        <p:spPr>
          <a:xfrm>
            <a:off x="2709152" y="1679143"/>
            <a:ext cx="7449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-      +      +      +     +      +      +      -      +      +     +      +     +      +      -      +       +      +      +      +      +     250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512AF4-0759-F460-4B08-2CD8B402DFF5}"/>
              </a:ext>
            </a:extLst>
          </p:cNvPr>
          <p:cNvCxnSpPr>
            <a:cxnSpLocks/>
          </p:cNvCxnSpPr>
          <p:nvPr/>
        </p:nvCxnSpPr>
        <p:spPr>
          <a:xfrm>
            <a:off x="2696626" y="1603987"/>
            <a:ext cx="184999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55B53E-3388-ED0C-865D-805AFB5C599C}"/>
              </a:ext>
            </a:extLst>
          </p:cNvPr>
          <p:cNvCxnSpPr>
            <a:cxnSpLocks/>
          </p:cNvCxnSpPr>
          <p:nvPr/>
        </p:nvCxnSpPr>
        <p:spPr>
          <a:xfrm>
            <a:off x="4627722" y="1603987"/>
            <a:ext cx="184999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B3B7CE-E9E9-328E-A937-8251D9D7B02B}"/>
              </a:ext>
            </a:extLst>
          </p:cNvPr>
          <p:cNvCxnSpPr>
            <a:cxnSpLocks/>
          </p:cNvCxnSpPr>
          <p:nvPr/>
        </p:nvCxnSpPr>
        <p:spPr>
          <a:xfrm>
            <a:off x="6571344" y="1603987"/>
            <a:ext cx="184999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276B518-A84F-1A2E-E5BF-E38974B2D5D3}"/>
              </a:ext>
            </a:extLst>
          </p:cNvPr>
          <p:cNvSpPr txBox="1"/>
          <p:nvPr/>
        </p:nvSpPr>
        <p:spPr>
          <a:xfrm>
            <a:off x="3456858" y="1272949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MgCl</a:t>
            </a:r>
            <a:r>
              <a:rPr lang="en-US" sz="1200" baseline="-25000" dirty="0">
                <a:latin typeface="Helvetica" pitchFamily="2" charset="0"/>
              </a:rPr>
              <a:t>2</a:t>
            </a:r>
            <a:endParaRPr lang="en-US" sz="1200" dirty="0"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785532-1483-062C-D180-6B60CEA0D88A}"/>
              </a:ext>
            </a:extLst>
          </p:cNvPr>
          <p:cNvSpPr txBox="1"/>
          <p:nvPr/>
        </p:nvSpPr>
        <p:spPr>
          <a:xfrm>
            <a:off x="5387294" y="1272949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MnCl</a:t>
            </a:r>
            <a:r>
              <a:rPr lang="en-US" sz="1200" baseline="-25000" dirty="0">
                <a:latin typeface="Helvetica" pitchFamily="2" charset="0"/>
              </a:rPr>
              <a:t>2</a:t>
            </a:r>
            <a:endParaRPr lang="en-US" sz="1200" dirty="0"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137FF-59D2-C83D-FC19-73DA1E827AE2}"/>
              </a:ext>
            </a:extLst>
          </p:cNvPr>
          <p:cNvSpPr txBox="1"/>
          <p:nvPr/>
        </p:nvSpPr>
        <p:spPr>
          <a:xfrm>
            <a:off x="7331574" y="1272949"/>
            <a:ext cx="566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ZnCl</a:t>
            </a:r>
            <a:r>
              <a:rPr lang="en-US" sz="1200" baseline="-25000" dirty="0">
                <a:latin typeface="Helvetica" pitchFamily="2" charset="0"/>
              </a:rPr>
              <a:t>2</a:t>
            </a:r>
            <a:endParaRPr lang="en-US" sz="1200" dirty="0">
              <a:latin typeface="Helvetica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7F207D-EFEE-F75A-9D99-AC4DDC1A9E72}"/>
              </a:ext>
            </a:extLst>
          </p:cNvPr>
          <p:cNvCxnSpPr>
            <a:cxnSpLocks/>
          </p:cNvCxnSpPr>
          <p:nvPr/>
        </p:nvCxnSpPr>
        <p:spPr>
          <a:xfrm>
            <a:off x="2696626" y="1071999"/>
            <a:ext cx="572471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FDD3DE4-D336-713C-3D6B-7023B151F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137" y="407415"/>
            <a:ext cx="1254975" cy="4863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6332DB-7AB3-03FE-C10F-5C3EA941824C}"/>
              </a:ext>
            </a:extLst>
          </p:cNvPr>
          <p:cNvSpPr txBox="1"/>
          <p:nvPr/>
        </p:nvSpPr>
        <p:spPr>
          <a:xfrm>
            <a:off x="377190" y="377190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6C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58E6CB-9DF2-F01D-5C98-5DFF59A8C204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9440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C9CF6E-E5E0-CD10-2982-E3E679B106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3386" t="-6476" r="-3035" b="-3109"/>
          <a:stretch/>
        </p:blipFill>
        <p:spPr>
          <a:xfrm>
            <a:off x="2846070" y="2544210"/>
            <a:ext cx="5852160" cy="29669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30DD7A-8E57-F2AB-C026-34A2EA059E25}"/>
              </a:ext>
            </a:extLst>
          </p:cNvPr>
          <p:cNvSpPr txBox="1"/>
          <p:nvPr/>
        </p:nvSpPr>
        <p:spPr>
          <a:xfrm>
            <a:off x="3104287" y="2111895"/>
            <a:ext cx="7024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-     +      +     +     +      +      +     -     +      +     +     +      +     +     -     +      +     +     +      +      +      </a:t>
            </a:r>
            <a:r>
              <a:rPr lang="en-US" sz="900" dirty="0">
                <a:latin typeface="Helvetica" pitchFamily="2" charset="0"/>
              </a:rPr>
              <a:t>250 nM </a:t>
            </a:r>
            <a:r>
              <a:rPr lang="en-US" sz="9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9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  <a:endParaRPr lang="en-US" sz="1000" dirty="0">
              <a:solidFill>
                <a:srgbClr val="424242"/>
              </a:solidFill>
              <a:latin typeface="Helvetica" pitchFamily="2" charset="0"/>
            </a:endParaRPr>
          </a:p>
          <a:p>
            <a:r>
              <a:rPr lang="en-US" sz="1000" dirty="0">
                <a:latin typeface="Helvetica" pitchFamily="2" charset="0"/>
              </a:rPr>
              <a:t>    </a:t>
            </a:r>
          </a:p>
          <a:p>
            <a:r>
              <a:rPr lang="en-US" sz="1000" dirty="0">
                <a:latin typeface="Helvetica" pitchFamily="2" charset="0"/>
              </a:rPr>
              <a:t>    </a:t>
            </a:r>
          </a:p>
          <a:p>
            <a:endParaRPr lang="en-US" sz="10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3BA62-E9EE-19CD-DAF4-3CE89AA09078}"/>
              </a:ext>
            </a:extLst>
          </p:cNvPr>
          <p:cNvSpPr txBox="1"/>
          <p:nvPr/>
        </p:nvSpPr>
        <p:spPr>
          <a:xfrm>
            <a:off x="3025979" y="2407213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Helvetica" pitchFamily="2" charset="0"/>
              </a:rPr>
              <a:t> 10     0     0.5    1     2.5     5     10    10     0     0.5    1     2.5     5     10    10     0     0.5    1     2.5     5     10      mM chelators</a:t>
            </a:r>
          </a:p>
          <a:p>
            <a:r>
              <a:rPr lang="en-US" sz="900" dirty="0">
                <a:latin typeface="Helvetica" pitchFamily="2" charset="0"/>
              </a:rPr>
              <a:t>    </a:t>
            </a:r>
          </a:p>
          <a:p>
            <a:r>
              <a:rPr lang="en-US" sz="900" dirty="0">
                <a:latin typeface="Helvetica" pitchFamily="2" charset="0"/>
              </a:rPr>
              <a:t>    </a:t>
            </a:r>
          </a:p>
          <a:p>
            <a:endParaRPr lang="en-US" sz="900" dirty="0">
              <a:latin typeface="Helvetica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AB1214-B4B0-8BA5-BF3E-B23679791AC9}"/>
              </a:ext>
            </a:extLst>
          </p:cNvPr>
          <p:cNvCxnSpPr>
            <a:cxnSpLocks/>
          </p:cNvCxnSpPr>
          <p:nvPr/>
        </p:nvCxnSpPr>
        <p:spPr>
          <a:xfrm>
            <a:off x="3104287" y="1993145"/>
            <a:ext cx="174084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58BC6F0-B8C0-FB3A-EA2A-BF4820A4E876}"/>
              </a:ext>
            </a:extLst>
          </p:cNvPr>
          <p:cNvSpPr txBox="1"/>
          <p:nvPr/>
        </p:nvSpPr>
        <p:spPr>
          <a:xfrm>
            <a:off x="3682866" y="1620881"/>
            <a:ext cx="583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EDTA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1F087-8D66-8E46-E414-5ECF5D9F4E0F}"/>
              </a:ext>
            </a:extLst>
          </p:cNvPr>
          <p:cNvSpPr txBox="1"/>
          <p:nvPr/>
        </p:nvSpPr>
        <p:spPr>
          <a:xfrm>
            <a:off x="5532588" y="1620881"/>
            <a:ext cx="593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EGTA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4F09C-9BBA-ADCA-C9DB-3F990BEFB6AE}"/>
              </a:ext>
            </a:extLst>
          </p:cNvPr>
          <p:cNvSpPr txBox="1"/>
          <p:nvPr/>
        </p:nvSpPr>
        <p:spPr>
          <a:xfrm>
            <a:off x="6932687" y="1620881"/>
            <a:ext cx="1332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o-phenanthroline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17C033-21C8-AEF4-875F-F36EF2420F90}"/>
              </a:ext>
            </a:extLst>
          </p:cNvPr>
          <p:cNvCxnSpPr>
            <a:cxnSpLocks/>
          </p:cNvCxnSpPr>
          <p:nvPr/>
        </p:nvCxnSpPr>
        <p:spPr>
          <a:xfrm>
            <a:off x="3104287" y="1433058"/>
            <a:ext cx="531531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3BA2EE-A3E7-3694-6533-8A57BB62CE38}"/>
              </a:ext>
            </a:extLst>
          </p:cNvPr>
          <p:cNvCxnSpPr>
            <a:cxnSpLocks/>
          </p:cNvCxnSpPr>
          <p:nvPr/>
        </p:nvCxnSpPr>
        <p:spPr>
          <a:xfrm>
            <a:off x="4958818" y="1993145"/>
            <a:ext cx="174084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C0B8D7-A001-3822-EEEE-0A8C72C822E7}"/>
              </a:ext>
            </a:extLst>
          </p:cNvPr>
          <p:cNvCxnSpPr>
            <a:cxnSpLocks/>
          </p:cNvCxnSpPr>
          <p:nvPr/>
        </p:nvCxnSpPr>
        <p:spPr>
          <a:xfrm>
            <a:off x="6778186" y="1993145"/>
            <a:ext cx="164141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E235DD4-02D5-587F-42A8-65D8DA280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991" y="722045"/>
            <a:ext cx="1254975" cy="4863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BCB9C4-33C1-EEE1-96B2-D505EFE32DEE}"/>
              </a:ext>
            </a:extLst>
          </p:cNvPr>
          <p:cNvSpPr txBox="1"/>
          <p:nvPr/>
        </p:nvSpPr>
        <p:spPr>
          <a:xfrm>
            <a:off x="377190" y="377190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6D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8F703-1DCD-A253-E295-AFD01AC24FB8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5069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789A6B-FB85-A223-745E-A0EBE393FE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99" t="1716" r="-465" b="-1895"/>
          <a:stretch/>
        </p:blipFill>
        <p:spPr>
          <a:xfrm>
            <a:off x="3352800" y="1775056"/>
            <a:ext cx="4831492" cy="4972254"/>
          </a:xfrm>
          <a:prstGeom prst="rect">
            <a:avLst/>
          </a:prstGeom>
          <a:ln w="9525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4AE5AA-EB19-7AB7-11DA-E4CD8E951F44}"/>
              </a:ext>
            </a:extLst>
          </p:cNvPr>
          <p:cNvSpPr txBox="1"/>
          <p:nvPr/>
        </p:nvSpPr>
        <p:spPr>
          <a:xfrm>
            <a:off x="210065" y="345989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7C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4D5CE6-CCA3-E2ED-112D-FB2DB6E0F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054" y="98854"/>
            <a:ext cx="4582984" cy="1626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A09B04-04F1-41CE-056C-9F46C5619325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8790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AE5AA-EB19-7AB7-11DA-E4CD8E951F44}"/>
              </a:ext>
            </a:extLst>
          </p:cNvPr>
          <p:cNvSpPr txBox="1"/>
          <p:nvPr/>
        </p:nvSpPr>
        <p:spPr>
          <a:xfrm>
            <a:off x="210065" y="345989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7C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C4A4EEE-D7EB-55A7-8D5C-6F7C45B79B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776" t="-1765" r="-2989" b="-3480"/>
          <a:stretch/>
        </p:blipFill>
        <p:spPr>
          <a:xfrm>
            <a:off x="0" y="902564"/>
            <a:ext cx="6314302" cy="5820032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463D4C-E02F-86B7-0B10-217551E7509F}"/>
              </a:ext>
            </a:extLst>
          </p:cNvPr>
          <p:cNvSpPr txBox="1"/>
          <p:nvPr/>
        </p:nvSpPr>
        <p:spPr>
          <a:xfrm>
            <a:off x="4647953" y="1689007"/>
            <a:ext cx="24016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500    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81B9BAAD-0EBF-4D29-CC30-759D12CBEB11}"/>
              </a:ext>
            </a:extLst>
          </p:cNvPr>
          <p:cNvSpPr/>
          <p:nvPr/>
        </p:nvSpPr>
        <p:spPr>
          <a:xfrm flipH="1">
            <a:off x="4757155" y="1527317"/>
            <a:ext cx="648086" cy="154229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5A38AE-6B20-A2E0-0BDE-C7711E1F6419}"/>
              </a:ext>
            </a:extLst>
          </p:cNvPr>
          <p:cNvCxnSpPr>
            <a:cxnSpLocks/>
          </p:cNvCxnSpPr>
          <p:nvPr/>
        </p:nvCxnSpPr>
        <p:spPr>
          <a:xfrm>
            <a:off x="4611378" y="1374895"/>
            <a:ext cx="79386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459ECA-4D0D-CC25-5354-37763D619693}"/>
              </a:ext>
            </a:extLst>
          </p:cNvPr>
          <p:cNvCxnSpPr>
            <a:cxnSpLocks/>
          </p:cNvCxnSpPr>
          <p:nvPr/>
        </p:nvCxnSpPr>
        <p:spPr>
          <a:xfrm>
            <a:off x="4657517" y="1076249"/>
            <a:ext cx="778163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8EDE6D2-5C36-AE96-6505-AEEED3E776DA}"/>
              </a:ext>
            </a:extLst>
          </p:cNvPr>
          <p:cNvSpPr/>
          <p:nvPr/>
        </p:nvSpPr>
        <p:spPr>
          <a:xfrm>
            <a:off x="4647413" y="1050414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86EFF-97FE-539F-CBAB-77D5356269CD}"/>
              </a:ext>
            </a:extLst>
          </p:cNvPr>
          <p:cNvSpPr txBox="1"/>
          <p:nvPr/>
        </p:nvSpPr>
        <p:spPr>
          <a:xfrm>
            <a:off x="4444247" y="965551"/>
            <a:ext cx="2648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5’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B6D77-3AE9-7BA1-CFDD-3BB902A12478}"/>
              </a:ext>
            </a:extLst>
          </p:cNvPr>
          <p:cNvSpPr txBox="1"/>
          <p:nvPr/>
        </p:nvSpPr>
        <p:spPr>
          <a:xfrm>
            <a:off x="4794766" y="802461"/>
            <a:ext cx="5100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37201"/>
                </a:solidFill>
                <a:latin typeface="Helvetica" pitchFamily="2" charset="0"/>
              </a:rPr>
              <a:t>dsDNA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B5F876-1375-EC60-5B1A-A9F158E169CC}"/>
              </a:ext>
            </a:extLst>
          </p:cNvPr>
          <p:cNvCxnSpPr>
            <a:cxnSpLocks/>
          </p:cNvCxnSpPr>
          <p:nvPr/>
        </p:nvCxnSpPr>
        <p:spPr>
          <a:xfrm>
            <a:off x="4657517" y="1163838"/>
            <a:ext cx="778163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A89F518-36E1-17D9-4822-42FAA85D2160}"/>
              </a:ext>
            </a:extLst>
          </p:cNvPr>
          <p:cNvSpPr/>
          <p:nvPr/>
        </p:nvSpPr>
        <p:spPr>
          <a:xfrm>
            <a:off x="4493675" y="556055"/>
            <a:ext cx="1079222" cy="6052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5950A1-5605-F5E5-3FD7-C3FB9F7391F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7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001" t="-3766" r="-358" b="-2537"/>
          <a:stretch/>
        </p:blipFill>
        <p:spPr>
          <a:xfrm>
            <a:off x="6363730" y="2460396"/>
            <a:ext cx="5263417" cy="3402671"/>
          </a:xfrm>
          <a:prstGeom prst="rect">
            <a:avLst/>
          </a:prstGeom>
          <a:ln>
            <a:noFill/>
          </a:ln>
        </p:spPr>
      </p:pic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619CACEC-537C-BBFA-1087-249FB605F64D}"/>
              </a:ext>
            </a:extLst>
          </p:cNvPr>
          <p:cNvSpPr/>
          <p:nvPr/>
        </p:nvSpPr>
        <p:spPr>
          <a:xfrm flipH="1">
            <a:off x="10567610" y="2152168"/>
            <a:ext cx="648086" cy="154229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24EBD4-BA72-1034-3F8D-E14BE2F36912}"/>
              </a:ext>
            </a:extLst>
          </p:cNvPr>
          <p:cNvCxnSpPr>
            <a:cxnSpLocks/>
          </p:cNvCxnSpPr>
          <p:nvPr/>
        </p:nvCxnSpPr>
        <p:spPr>
          <a:xfrm>
            <a:off x="10492403" y="2002233"/>
            <a:ext cx="8266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74435BD-FD07-25C7-70E5-BD64EE9F7F19}"/>
              </a:ext>
            </a:extLst>
          </p:cNvPr>
          <p:cNvCxnSpPr>
            <a:cxnSpLocks/>
          </p:cNvCxnSpPr>
          <p:nvPr/>
        </p:nvCxnSpPr>
        <p:spPr>
          <a:xfrm>
            <a:off x="10540863" y="1723309"/>
            <a:ext cx="778163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783549C-693D-21F8-277F-E1FC03EA27A0}"/>
              </a:ext>
            </a:extLst>
          </p:cNvPr>
          <p:cNvSpPr/>
          <p:nvPr/>
        </p:nvSpPr>
        <p:spPr>
          <a:xfrm>
            <a:off x="10530759" y="1697474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9AAEC0-5754-6868-8CE4-BC64D986A1C6}"/>
              </a:ext>
            </a:extLst>
          </p:cNvPr>
          <p:cNvSpPr txBox="1"/>
          <p:nvPr/>
        </p:nvSpPr>
        <p:spPr>
          <a:xfrm>
            <a:off x="10678112" y="1449521"/>
            <a:ext cx="5036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</a:rPr>
              <a:t>ssRNA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52931B-B742-CA14-6AFD-5ABC36C4A0BF}"/>
              </a:ext>
            </a:extLst>
          </p:cNvPr>
          <p:cNvSpPr txBox="1"/>
          <p:nvPr/>
        </p:nvSpPr>
        <p:spPr>
          <a:xfrm>
            <a:off x="10530759" y="2357168"/>
            <a:ext cx="1760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500    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</a:t>
            </a:r>
          </a:p>
          <a:p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                            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D5E683-E9A5-29ED-1417-1CB57D86292F}"/>
              </a:ext>
            </a:extLst>
          </p:cNvPr>
          <p:cNvSpPr/>
          <p:nvPr/>
        </p:nvSpPr>
        <p:spPr>
          <a:xfrm>
            <a:off x="10600439" y="1272431"/>
            <a:ext cx="826623" cy="4598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C8165-851A-E51A-C806-524ED970EF44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3334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7C9E67-72D6-A753-733D-80195F061CEB}"/>
              </a:ext>
            </a:extLst>
          </p:cNvPr>
          <p:cNvSpPr txBox="1"/>
          <p:nvPr/>
        </p:nvSpPr>
        <p:spPr>
          <a:xfrm>
            <a:off x="556054" y="469557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7D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46DF0A-77CC-2AD1-78D3-19DD5D5957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81" t="-3225" r="-1440" b="-3429"/>
          <a:stretch/>
        </p:blipFill>
        <p:spPr>
          <a:xfrm>
            <a:off x="556054" y="2916444"/>
            <a:ext cx="3817958" cy="1803837"/>
          </a:xfrm>
          <a:prstGeom prst="rect">
            <a:avLst/>
          </a:prstGeom>
          <a:ln>
            <a:noFill/>
          </a:ln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BC2AB90F-4386-938A-8D08-1F97FD0B91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saturation sat="74000"/>
                    </a14:imgEffect>
                    <a14:imgEffect>
                      <a14:brightnessContrast bright="-4000" contras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3382" t="-1147" r="-3566" b="-2438"/>
          <a:stretch/>
        </p:blipFill>
        <p:spPr>
          <a:xfrm>
            <a:off x="5740143" y="506627"/>
            <a:ext cx="6451857" cy="6351373"/>
          </a:xfrm>
          <a:prstGeom prst="rect">
            <a:avLst/>
          </a:prstGeom>
          <a:ln>
            <a:noFill/>
          </a:ln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5946F301-1A2C-2991-0201-D05E4A2AA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045" y="1588701"/>
            <a:ext cx="4222550" cy="1191569"/>
          </a:xfrm>
          <a:prstGeom prst="rect">
            <a:avLst/>
          </a:prstGeom>
        </p:spPr>
      </p:pic>
      <p:sp>
        <p:nvSpPr>
          <p:cNvPr id="153" name="Rectangle 152">
            <a:extLst>
              <a:ext uri="{FF2B5EF4-FFF2-40B4-BE49-F238E27FC236}">
                <a16:creationId xmlns:a16="http://schemas.microsoft.com/office/drawing/2014/main" id="{9B1ACC4A-ECA9-D505-8D96-F68617136915}"/>
              </a:ext>
            </a:extLst>
          </p:cNvPr>
          <p:cNvSpPr/>
          <p:nvPr/>
        </p:nvSpPr>
        <p:spPr>
          <a:xfrm>
            <a:off x="8067667" y="402820"/>
            <a:ext cx="3016344" cy="6351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9323C93-41EC-F613-DF1A-E545C35DC919}"/>
              </a:ext>
            </a:extLst>
          </p:cNvPr>
          <p:cNvSpPr txBox="1"/>
          <p:nvPr/>
        </p:nvSpPr>
        <p:spPr>
          <a:xfrm>
            <a:off x="648478" y="2600372"/>
            <a:ext cx="51171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                  5000     0                                      5000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155" name="Right Triangle 154">
            <a:extLst>
              <a:ext uri="{FF2B5EF4-FFF2-40B4-BE49-F238E27FC236}">
                <a16:creationId xmlns:a16="http://schemas.microsoft.com/office/drawing/2014/main" id="{D64673AF-90C7-7BEB-1609-BE2C3B62BA43}"/>
              </a:ext>
            </a:extLst>
          </p:cNvPr>
          <p:cNvSpPr/>
          <p:nvPr/>
        </p:nvSpPr>
        <p:spPr>
          <a:xfrm flipH="1">
            <a:off x="739079" y="2383509"/>
            <a:ext cx="1626206" cy="20775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156" name="Right Triangle 155">
            <a:extLst>
              <a:ext uri="{FF2B5EF4-FFF2-40B4-BE49-F238E27FC236}">
                <a16:creationId xmlns:a16="http://schemas.microsoft.com/office/drawing/2014/main" id="{4F4F40D3-0F5E-58F3-ABFA-4908ACA120A5}"/>
              </a:ext>
            </a:extLst>
          </p:cNvPr>
          <p:cNvSpPr/>
          <p:nvPr/>
        </p:nvSpPr>
        <p:spPr>
          <a:xfrm flipH="1">
            <a:off x="2606666" y="2383509"/>
            <a:ext cx="1626206" cy="20775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3E9083BA-D554-99AC-A7CD-E1CB0CC6EBE6}"/>
              </a:ext>
            </a:extLst>
          </p:cNvPr>
          <p:cNvCxnSpPr>
            <a:cxnSpLocks/>
          </p:cNvCxnSpPr>
          <p:nvPr/>
        </p:nvCxnSpPr>
        <p:spPr>
          <a:xfrm>
            <a:off x="722226" y="2245896"/>
            <a:ext cx="351064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93703B6-1078-E121-82DA-B2762477AAB4}"/>
              </a:ext>
            </a:extLst>
          </p:cNvPr>
          <p:cNvGrpSpPr/>
          <p:nvPr/>
        </p:nvGrpSpPr>
        <p:grpSpPr>
          <a:xfrm>
            <a:off x="2178947" y="1567229"/>
            <a:ext cx="736498" cy="501429"/>
            <a:chOff x="6018923" y="3965626"/>
            <a:chExt cx="1062182" cy="679347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6E141563-28F5-D7ED-B1D0-23AA11DFB9FA}"/>
                </a:ext>
              </a:extLst>
            </p:cNvPr>
            <p:cNvGrpSpPr/>
            <p:nvPr/>
          </p:nvGrpSpPr>
          <p:grpSpPr>
            <a:xfrm>
              <a:off x="6018923" y="3965626"/>
              <a:ext cx="1062182" cy="264555"/>
              <a:chOff x="6018923" y="3965626"/>
              <a:chExt cx="1062182" cy="264555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478847D1-129E-EF6F-6335-CADA6D69F8C0}"/>
                  </a:ext>
                </a:extLst>
              </p:cNvPr>
              <p:cNvCxnSpPr/>
              <p:nvPr/>
            </p:nvCxnSpPr>
            <p:spPr>
              <a:xfrm>
                <a:off x="6018923" y="4226955"/>
                <a:ext cx="678210" cy="0"/>
              </a:xfrm>
              <a:prstGeom prst="line">
                <a:avLst/>
              </a:prstGeom>
              <a:ln w="19050">
                <a:solidFill>
                  <a:srgbClr val="E3720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81AB9C66-EC49-9A1A-D1DE-700F97A9A92D}"/>
                  </a:ext>
                </a:extLst>
              </p:cNvPr>
              <p:cNvCxnSpPr/>
              <p:nvPr/>
            </p:nvCxnSpPr>
            <p:spPr>
              <a:xfrm flipV="1">
                <a:off x="6691638" y="3965626"/>
                <a:ext cx="389467" cy="264555"/>
              </a:xfrm>
              <a:prstGeom prst="line">
                <a:avLst/>
              </a:prstGeom>
              <a:ln w="19050">
                <a:solidFill>
                  <a:srgbClr val="E3720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9F704660-F1A9-CCC7-CE9A-07D927C4822E}"/>
                </a:ext>
              </a:extLst>
            </p:cNvPr>
            <p:cNvGrpSpPr/>
            <p:nvPr/>
          </p:nvGrpSpPr>
          <p:grpSpPr>
            <a:xfrm flipV="1">
              <a:off x="6018923" y="4395148"/>
              <a:ext cx="1062182" cy="249825"/>
              <a:chOff x="6018923" y="3965816"/>
              <a:chExt cx="1062182" cy="264555"/>
            </a:xfrm>
          </p:grpSpPr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27474644-CE4C-65A0-9944-02D12C3C78DA}"/>
                  </a:ext>
                </a:extLst>
              </p:cNvPr>
              <p:cNvCxnSpPr/>
              <p:nvPr/>
            </p:nvCxnSpPr>
            <p:spPr>
              <a:xfrm>
                <a:off x="6018923" y="4226955"/>
                <a:ext cx="678210" cy="0"/>
              </a:xfrm>
              <a:prstGeom prst="line">
                <a:avLst/>
              </a:prstGeom>
              <a:ln w="19050">
                <a:solidFill>
                  <a:srgbClr val="E3720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CBB014C9-7839-07D0-F488-AD22FC76DD81}"/>
                  </a:ext>
                </a:extLst>
              </p:cNvPr>
              <p:cNvCxnSpPr/>
              <p:nvPr/>
            </p:nvCxnSpPr>
            <p:spPr>
              <a:xfrm flipV="1">
                <a:off x="6691638" y="3965816"/>
                <a:ext cx="389467" cy="264555"/>
              </a:xfrm>
              <a:prstGeom prst="line">
                <a:avLst/>
              </a:prstGeom>
              <a:ln w="19050">
                <a:solidFill>
                  <a:srgbClr val="E3720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5" name="Oval 164">
            <a:extLst>
              <a:ext uri="{FF2B5EF4-FFF2-40B4-BE49-F238E27FC236}">
                <a16:creationId xmlns:a16="http://schemas.microsoft.com/office/drawing/2014/main" id="{D88E2214-5506-F557-75B2-0B1531C8A54C}"/>
              </a:ext>
            </a:extLst>
          </p:cNvPr>
          <p:cNvSpPr/>
          <p:nvPr/>
        </p:nvSpPr>
        <p:spPr>
          <a:xfrm>
            <a:off x="2165205" y="1737119"/>
            <a:ext cx="42929" cy="45998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3EC72AA-29CE-01FC-5ED3-D47045C92F7E}"/>
              </a:ext>
            </a:extLst>
          </p:cNvPr>
          <p:cNvSpPr txBox="1"/>
          <p:nvPr/>
        </p:nvSpPr>
        <p:spPr>
          <a:xfrm>
            <a:off x="1966903" y="1644786"/>
            <a:ext cx="25680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5’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7D86C16-DB61-0735-0C6C-182D74045F54}"/>
              </a:ext>
            </a:extLst>
          </p:cNvPr>
          <p:cNvSpPr txBox="1"/>
          <p:nvPr/>
        </p:nvSpPr>
        <p:spPr>
          <a:xfrm>
            <a:off x="2247050" y="1493430"/>
            <a:ext cx="388248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37201"/>
                </a:solidFill>
                <a:latin typeface="Helvetica" pitchFamily="2" charset="0"/>
                <a:ea typeface="Arial" charset="0"/>
                <a:cs typeface="Arial" charset="0"/>
              </a:rPr>
              <a:t>Fork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0625B-B937-5763-4FC3-5453E329D440}"/>
              </a:ext>
            </a:extLst>
          </p:cNvPr>
          <p:cNvSpPr txBox="1"/>
          <p:nvPr/>
        </p:nvSpPr>
        <p:spPr>
          <a:xfrm>
            <a:off x="351211" y="6388443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187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937E0902-E320-0426-EF5E-01A5E7265AAE}"/>
              </a:ext>
            </a:extLst>
          </p:cNvPr>
          <p:cNvSpPr/>
          <p:nvPr/>
        </p:nvSpPr>
        <p:spPr>
          <a:xfrm flipH="1">
            <a:off x="1936919" y="2055186"/>
            <a:ext cx="1132398" cy="16469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DBBD90-C770-A8B9-4EC0-7157F9C18C2B}"/>
              </a:ext>
            </a:extLst>
          </p:cNvPr>
          <p:cNvCxnSpPr>
            <a:cxnSpLocks/>
          </p:cNvCxnSpPr>
          <p:nvPr/>
        </p:nvCxnSpPr>
        <p:spPr>
          <a:xfrm>
            <a:off x="1936919" y="1920557"/>
            <a:ext cx="113239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0B36171-81EE-9DBD-D71C-7083455A9E5B}"/>
              </a:ext>
            </a:extLst>
          </p:cNvPr>
          <p:cNvSpPr txBox="1"/>
          <p:nvPr/>
        </p:nvSpPr>
        <p:spPr>
          <a:xfrm>
            <a:off x="1597196" y="2250300"/>
            <a:ext cx="5540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       0                         500    0                         500   0                        500  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757575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B042705B-9E42-F266-05E0-9743D1F5FB09}"/>
              </a:ext>
            </a:extLst>
          </p:cNvPr>
          <p:cNvSpPr/>
          <p:nvPr/>
        </p:nvSpPr>
        <p:spPr>
          <a:xfrm flipH="1">
            <a:off x="3250458" y="2055186"/>
            <a:ext cx="1132398" cy="16469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A9481B-ABD9-377C-7181-D093A72AD618}"/>
              </a:ext>
            </a:extLst>
          </p:cNvPr>
          <p:cNvCxnSpPr>
            <a:cxnSpLocks/>
          </p:cNvCxnSpPr>
          <p:nvPr/>
        </p:nvCxnSpPr>
        <p:spPr>
          <a:xfrm>
            <a:off x="3250458" y="1920557"/>
            <a:ext cx="113239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B8AE0901-97F7-000A-1CF7-8141BEC8ECCD}"/>
              </a:ext>
            </a:extLst>
          </p:cNvPr>
          <p:cNvSpPr/>
          <p:nvPr/>
        </p:nvSpPr>
        <p:spPr>
          <a:xfrm flipH="1">
            <a:off x="4502967" y="2055186"/>
            <a:ext cx="1132398" cy="16469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64AD2D-8A26-9E8E-38E6-CEA68B39B737}"/>
              </a:ext>
            </a:extLst>
          </p:cNvPr>
          <p:cNvCxnSpPr>
            <a:cxnSpLocks/>
          </p:cNvCxnSpPr>
          <p:nvPr/>
        </p:nvCxnSpPr>
        <p:spPr>
          <a:xfrm>
            <a:off x="4502967" y="1920557"/>
            <a:ext cx="113239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BC761F7-7DF7-0D8C-AF45-395C14B28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4330" t="-5846" r="-4349" b="-6428"/>
          <a:stretch/>
        </p:blipFill>
        <p:spPr>
          <a:xfrm>
            <a:off x="1220703" y="2250300"/>
            <a:ext cx="7772399" cy="4077730"/>
          </a:xfrm>
          <a:prstGeom prst="rect">
            <a:avLst/>
          </a:prstGeom>
          <a:ln w="9525">
            <a:noFill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48ACA99-225E-E2EC-AE04-B580D9D4CC87}"/>
              </a:ext>
            </a:extLst>
          </p:cNvPr>
          <p:cNvGrpSpPr/>
          <p:nvPr/>
        </p:nvGrpSpPr>
        <p:grpSpPr>
          <a:xfrm>
            <a:off x="2140441" y="1261813"/>
            <a:ext cx="657685" cy="454011"/>
            <a:chOff x="2504372" y="1227131"/>
            <a:chExt cx="657685" cy="45401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BF38C4-BFE9-632C-2736-BB2491513132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383354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2B82365-A036-6A4A-D914-9742A3BF4712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176D8C0-FF72-B983-1A07-536D73AE544F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362CF2-3A1F-2B05-41EA-F429E47D659A}"/>
                </a:ext>
              </a:extLst>
            </p:cNvPr>
            <p:cNvSpPr txBox="1"/>
            <p:nvPr/>
          </p:nvSpPr>
          <p:spPr>
            <a:xfrm>
              <a:off x="2658393" y="1227131"/>
              <a:ext cx="5036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E37201"/>
                  </a:solidFill>
                  <a:latin typeface="Helvetica" pitchFamily="2" charset="0"/>
                </a:rPr>
                <a:t>ssDNA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366D43-1417-7EB6-9E86-C4D1A3D0090D}"/>
              </a:ext>
            </a:extLst>
          </p:cNvPr>
          <p:cNvGrpSpPr/>
          <p:nvPr/>
        </p:nvGrpSpPr>
        <p:grpSpPr>
          <a:xfrm>
            <a:off x="3347199" y="1296887"/>
            <a:ext cx="894093" cy="375908"/>
            <a:chOff x="5389892" y="1137188"/>
            <a:chExt cx="1165195" cy="451814"/>
          </a:xfrm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30BA27AE-D3C8-4FFB-11E1-3604F7917D04}"/>
                </a:ext>
              </a:extLst>
            </p:cNvPr>
            <p:cNvSpPr/>
            <p:nvPr/>
          </p:nvSpPr>
          <p:spPr>
            <a:xfrm>
              <a:off x="5655278" y="1137188"/>
              <a:ext cx="628707" cy="451814"/>
            </a:xfrm>
            <a:prstGeom prst="blockArc">
              <a:avLst>
                <a:gd name="adj1" fmla="val 11016820"/>
                <a:gd name="adj2" fmla="val 13"/>
                <a:gd name="adj3" fmla="val 0"/>
              </a:avLst>
            </a:prstGeom>
            <a:noFill/>
            <a:ln w="19050">
              <a:solidFill>
                <a:srgbClr val="E3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B657C5E-9DF4-65CD-BF25-44161DE45D81}"/>
                </a:ext>
              </a:extLst>
            </p:cNvPr>
            <p:cNvCxnSpPr>
              <a:cxnSpLocks/>
            </p:cNvCxnSpPr>
            <p:nvPr/>
          </p:nvCxnSpPr>
          <p:spPr>
            <a:xfrm>
              <a:off x="6280206" y="1358811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899F8DE-4C62-AECE-1893-B3799F6E0BE2}"/>
                </a:ext>
              </a:extLst>
            </p:cNvPr>
            <p:cNvCxnSpPr>
              <a:cxnSpLocks/>
            </p:cNvCxnSpPr>
            <p:nvPr/>
          </p:nvCxnSpPr>
          <p:spPr>
            <a:xfrm>
              <a:off x="5389892" y="1353477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96B063A-01E7-BE7F-5C4F-97FFC74D5203}"/>
              </a:ext>
            </a:extLst>
          </p:cNvPr>
          <p:cNvGrpSpPr/>
          <p:nvPr/>
        </p:nvGrpSpPr>
        <p:grpSpPr>
          <a:xfrm flipH="1" flipV="1">
            <a:off x="3341729" y="1392708"/>
            <a:ext cx="894093" cy="375909"/>
            <a:chOff x="5389892" y="1137188"/>
            <a:chExt cx="1165195" cy="451814"/>
          </a:xfrm>
        </p:grpSpPr>
        <p:sp>
          <p:nvSpPr>
            <p:cNvPr id="25" name="Block Arc 24">
              <a:extLst>
                <a:ext uri="{FF2B5EF4-FFF2-40B4-BE49-F238E27FC236}">
                  <a16:creationId xmlns:a16="http://schemas.microsoft.com/office/drawing/2014/main" id="{F647E33B-1678-644E-C50B-EF2F8F760BDA}"/>
                </a:ext>
              </a:extLst>
            </p:cNvPr>
            <p:cNvSpPr/>
            <p:nvPr/>
          </p:nvSpPr>
          <p:spPr>
            <a:xfrm>
              <a:off x="5655278" y="1137188"/>
              <a:ext cx="628707" cy="451814"/>
            </a:xfrm>
            <a:prstGeom prst="blockArc">
              <a:avLst>
                <a:gd name="adj1" fmla="val 11016820"/>
                <a:gd name="adj2" fmla="val 13"/>
                <a:gd name="adj3" fmla="val 0"/>
              </a:avLst>
            </a:prstGeom>
            <a:noFill/>
            <a:ln w="19050">
              <a:solidFill>
                <a:srgbClr val="E3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F3E1448-7101-EE93-86EC-49B589B2C64A}"/>
                </a:ext>
              </a:extLst>
            </p:cNvPr>
            <p:cNvCxnSpPr>
              <a:cxnSpLocks/>
            </p:cNvCxnSpPr>
            <p:nvPr/>
          </p:nvCxnSpPr>
          <p:spPr>
            <a:xfrm>
              <a:off x="6280206" y="1358811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FFFEEEF-C584-2B3D-B3E8-E62E21C9FD00}"/>
                </a:ext>
              </a:extLst>
            </p:cNvPr>
            <p:cNvCxnSpPr>
              <a:cxnSpLocks/>
            </p:cNvCxnSpPr>
            <p:nvPr/>
          </p:nvCxnSpPr>
          <p:spPr>
            <a:xfrm>
              <a:off x="5389892" y="1353477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09C0A11-F28D-2835-86F6-BA4BC2C46251}"/>
              </a:ext>
            </a:extLst>
          </p:cNvPr>
          <p:cNvSpPr txBox="1"/>
          <p:nvPr/>
        </p:nvSpPr>
        <p:spPr>
          <a:xfrm>
            <a:off x="3536444" y="1034257"/>
            <a:ext cx="4876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37201"/>
                </a:solidFill>
                <a:latin typeface="Helvetica" pitchFamily="2" charset="0"/>
              </a:rPr>
              <a:t>D-loop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5AEBD8-3E96-98E5-47D0-CDC3E4FCEF6C}"/>
              </a:ext>
            </a:extLst>
          </p:cNvPr>
          <p:cNvGrpSpPr/>
          <p:nvPr/>
        </p:nvGrpSpPr>
        <p:grpSpPr>
          <a:xfrm rot="21414676">
            <a:off x="3594192" y="1592090"/>
            <a:ext cx="301231" cy="246131"/>
            <a:chOff x="2541774" y="1471885"/>
            <a:chExt cx="264816" cy="215444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2A09046-4D6D-015C-38BA-78F6B85521FC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A10DEAD-B75F-7CA7-9639-765D942D65F7}"/>
                </a:ext>
              </a:extLst>
            </p:cNvPr>
            <p:cNvSpPr txBox="1"/>
            <p:nvPr/>
          </p:nvSpPr>
          <p:spPr>
            <a:xfrm>
              <a:off x="2541774" y="1471885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</p:grpSp>
      <p:sp>
        <p:nvSpPr>
          <p:cNvPr id="32" name="Arc 31">
            <a:extLst>
              <a:ext uri="{FF2B5EF4-FFF2-40B4-BE49-F238E27FC236}">
                <a16:creationId xmlns:a16="http://schemas.microsoft.com/office/drawing/2014/main" id="{98F66BC9-CE56-2925-A9C8-A859F2FD0F14}"/>
              </a:ext>
            </a:extLst>
          </p:cNvPr>
          <p:cNvSpPr/>
          <p:nvPr/>
        </p:nvSpPr>
        <p:spPr>
          <a:xfrm rot="6137913">
            <a:off x="3737758" y="1477512"/>
            <a:ext cx="259051" cy="220233"/>
          </a:xfrm>
          <a:prstGeom prst="arc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4B1C3C3-2795-7080-EC6D-72AC8A1BA43D}"/>
              </a:ext>
            </a:extLst>
          </p:cNvPr>
          <p:cNvGrpSpPr/>
          <p:nvPr/>
        </p:nvGrpSpPr>
        <p:grpSpPr>
          <a:xfrm flipH="1" flipV="1">
            <a:off x="4609643" y="1410869"/>
            <a:ext cx="894093" cy="375909"/>
            <a:chOff x="5389892" y="1137188"/>
            <a:chExt cx="1165195" cy="451814"/>
          </a:xfrm>
        </p:grpSpPr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A109590E-87D2-55ED-EA5D-E815273246B4}"/>
                </a:ext>
              </a:extLst>
            </p:cNvPr>
            <p:cNvSpPr/>
            <p:nvPr/>
          </p:nvSpPr>
          <p:spPr>
            <a:xfrm>
              <a:off x="5655278" y="1137188"/>
              <a:ext cx="628707" cy="451814"/>
            </a:xfrm>
            <a:prstGeom prst="blockArc">
              <a:avLst>
                <a:gd name="adj1" fmla="val 11016820"/>
                <a:gd name="adj2" fmla="val 13"/>
                <a:gd name="adj3" fmla="val 0"/>
              </a:avLst>
            </a:prstGeom>
            <a:noFill/>
            <a:ln w="19050">
              <a:solidFill>
                <a:srgbClr val="E3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00A23F9-71E9-1D80-BF85-4967D657EFD0}"/>
                </a:ext>
              </a:extLst>
            </p:cNvPr>
            <p:cNvCxnSpPr>
              <a:cxnSpLocks/>
            </p:cNvCxnSpPr>
            <p:nvPr/>
          </p:nvCxnSpPr>
          <p:spPr>
            <a:xfrm>
              <a:off x="6280206" y="1358811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C138430-4D0F-208B-99A4-BF3DADC4CF27}"/>
                </a:ext>
              </a:extLst>
            </p:cNvPr>
            <p:cNvCxnSpPr>
              <a:cxnSpLocks/>
            </p:cNvCxnSpPr>
            <p:nvPr/>
          </p:nvCxnSpPr>
          <p:spPr>
            <a:xfrm>
              <a:off x="5389892" y="1353477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8857B15-B317-0548-DA13-819578088AD7}"/>
              </a:ext>
            </a:extLst>
          </p:cNvPr>
          <p:cNvSpPr txBox="1"/>
          <p:nvPr/>
        </p:nvSpPr>
        <p:spPr>
          <a:xfrm>
            <a:off x="4733313" y="1294621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37201"/>
                </a:solidFill>
                <a:latin typeface="Helvetica" pitchFamily="2" charset="0"/>
              </a:rPr>
              <a:t>DNA*-DNA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6FBCC06-6301-4F4F-7D6F-1A070ED4C365}"/>
              </a:ext>
            </a:extLst>
          </p:cNvPr>
          <p:cNvGrpSpPr/>
          <p:nvPr/>
        </p:nvGrpSpPr>
        <p:grpSpPr>
          <a:xfrm rot="21414676">
            <a:off x="4864919" y="1611095"/>
            <a:ext cx="301231" cy="246131"/>
            <a:chOff x="2541774" y="1471885"/>
            <a:chExt cx="264816" cy="215444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AF9352E-29FF-435F-A379-C6EB11284B1B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C3BF763-617F-1055-1632-64DA38757C1E}"/>
                </a:ext>
              </a:extLst>
            </p:cNvPr>
            <p:cNvSpPr txBox="1"/>
            <p:nvPr/>
          </p:nvSpPr>
          <p:spPr>
            <a:xfrm>
              <a:off x="2541774" y="1471885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</p:grpSp>
      <p:sp>
        <p:nvSpPr>
          <p:cNvPr id="41" name="Arc 40">
            <a:extLst>
              <a:ext uri="{FF2B5EF4-FFF2-40B4-BE49-F238E27FC236}">
                <a16:creationId xmlns:a16="http://schemas.microsoft.com/office/drawing/2014/main" id="{B6EA4867-7171-861A-8850-AB7F1499AAFA}"/>
              </a:ext>
            </a:extLst>
          </p:cNvPr>
          <p:cNvSpPr/>
          <p:nvPr/>
        </p:nvSpPr>
        <p:spPr>
          <a:xfrm rot="6137913">
            <a:off x="5005672" y="1495673"/>
            <a:ext cx="259051" cy="220233"/>
          </a:xfrm>
          <a:prstGeom prst="arc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E0033D-6B07-6943-9FDF-C2CC9A53B438}"/>
              </a:ext>
            </a:extLst>
          </p:cNvPr>
          <p:cNvSpPr txBox="1"/>
          <p:nvPr/>
        </p:nvSpPr>
        <p:spPr>
          <a:xfrm>
            <a:off x="494270" y="37070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8F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4D57E4-7BD8-D959-6883-D7840E166728}"/>
              </a:ext>
            </a:extLst>
          </p:cNvPr>
          <p:cNvSpPr/>
          <p:nvPr/>
        </p:nvSpPr>
        <p:spPr>
          <a:xfrm>
            <a:off x="1767016" y="939113"/>
            <a:ext cx="3966519" cy="53889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046A80-0CFD-E49F-520A-31FEBB85D462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4950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98C2F0-2361-E49D-D9AE-42ED4562A1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8918" t="-9270" r="-4367" b="-11183"/>
          <a:stretch/>
        </p:blipFill>
        <p:spPr>
          <a:xfrm flipH="1">
            <a:off x="954559" y="2834395"/>
            <a:ext cx="3678917" cy="2654702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EEC7EC-4205-88AD-EAB7-F242481C1FF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22676" t="-16375" r="-35642" b="-32953"/>
          <a:stretch/>
        </p:blipFill>
        <p:spPr>
          <a:xfrm>
            <a:off x="5341899" y="2683705"/>
            <a:ext cx="2668955" cy="3291050"/>
          </a:xfrm>
          <a:prstGeom prst="rect">
            <a:avLst/>
          </a:prstGeom>
          <a:ln>
            <a:noFill/>
          </a:ln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498DF3C7-7F07-5644-D740-442D8A5B8115}"/>
              </a:ext>
            </a:extLst>
          </p:cNvPr>
          <p:cNvSpPr/>
          <p:nvPr/>
        </p:nvSpPr>
        <p:spPr>
          <a:xfrm flipH="1">
            <a:off x="1109128" y="2519014"/>
            <a:ext cx="1132398" cy="16469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A54729-1306-A3BF-98E0-1E2AEFC2CDA1}"/>
              </a:ext>
            </a:extLst>
          </p:cNvPr>
          <p:cNvCxnSpPr>
            <a:cxnSpLocks/>
          </p:cNvCxnSpPr>
          <p:nvPr/>
        </p:nvCxnSpPr>
        <p:spPr>
          <a:xfrm>
            <a:off x="1109128" y="2384385"/>
            <a:ext cx="113239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2F7CAB7-ADB7-808E-D0BB-6529F9C2D3BC}"/>
              </a:ext>
            </a:extLst>
          </p:cNvPr>
          <p:cNvSpPr txBox="1"/>
          <p:nvPr/>
        </p:nvSpPr>
        <p:spPr>
          <a:xfrm>
            <a:off x="6113250" y="2753310"/>
            <a:ext cx="27190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   500  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757575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4761330-AEB5-B862-CFC8-CCF02623ACB8}"/>
              </a:ext>
            </a:extLst>
          </p:cNvPr>
          <p:cNvSpPr/>
          <p:nvPr/>
        </p:nvSpPr>
        <p:spPr>
          <a:xfrm flipH="1">
            <a:off x="2422667" y="2519014"/>
            <a:ext cx="1132398" cy="16469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A4EC67F-6A20-8EA4-D103-B0370CA0C8C2}"/>
              </a:ext>
            </a:extLst>
          </p:cNvPr>
          <p:cNvCxnSpPr>
            <a:cxnSpLocks/>
          </p:cNvCxnSpPr>
          <p:nvPr/>
        </p:nvCxnSpPr>
        <p:spPr>
          <a:xfrm>
            <a:off x="2422667" y="2384385"/>
            <a:ext cx="113239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05F39EF0-C3ED-CB57-DAA2-C623874F2363}"/>
              </a:ext>
            </a:extLst>
          </p:cNvPr>
          <p:cNvSpPr/>
          <p:nvPr/>
        </p:nvSpPr>
        <p:spPr>
          <a:xfrm flipH="1">
            <a:off x="6222371" y="2454683"/>
            <a:ext cx="1132398" cy="16469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B9AAE8-DB77-F3E7-9DB4-94EA43577592}"/>
              </a:ext>
            </a:extLst>
          </p:cNvPr>
          <p:cNvCxnSpPr>
            <a:cxnSpLocks/>
          </p:cNvCxnSpPr>
          <p:nvPr/>
        </p:nvCxnSpPr>
        <p:spPr>
          <a:xfrm>
            <a:off x="6222371" y="2320054"/>
            <a:ext cx="113239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B5442D-C07E-728F-B3D6-F267D467762A}"/>
              </a:ext>
            </a:extLst>
          </p:cNvPr>
          <p:cNvGrpSpPr/>
          <p:nvPr/>
        </p:nvGrpSpPr>
        <p:grpSpPr>
          <a:xfrm>
            <a:off x="1354854" y="1725007"/>
            <a:ext cx="657685" cy="454011"/>
            <a:chOff x="2504372" y="1227131"/>
            <a:chExt cx="657685" cy="45401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7DF8E2-F943-7980-165E-813DA8792440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383354" cy="0"/>
            </a:xfrm>
            <a:prstGeom prst="line">
              <a:avLst/>
            </a:prstGeom>
            <a:ln w="19050">
              <a:solidFill>
                <a:srgbClr val="FF4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4786C77-E947-F7AD-1651-7C3591C37C6A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298FB1F-ABB0-44D8-2A6E-7C434079D6B2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B5EB54-A24C-C303-FAE7-5069B37D42F3}"/>
                </a:ext>
              </a:extLst>
            </p:cNvPr>
            <p:cNvSpPr txBox="1"/>
            <p:nvPr/>
          </p:nvSpPr>
          <p:spPr>
            <a:xfrm>
              <a:off x="2658393" y="1227131"/>
              <a:ext cx="5036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40FF"/>
                  </a:solidFill>
                  <a:latin typeface="Helvetica" pitchFamily="2" charset="0"/>
                </a:rPr>
                <a:t>ssRNA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B4A4173-B9E4-5EAB-FC0D-55A3A3A861B0}"/>
              </a:ext>
            </a:extLst>
          </p:cNvPr>
          <p:cNvGrpSpPr/>
          <p:nvPr/>
        </p:nvGrpSpPr>
        <p:grpSpPr>
          <a:xfrm>
            <a:off x="2501719" y="1783467"/>
            <a:ext cx="894093" cy="375908"/>
            <a:chOff x="5389892" y="1137188"/>
            <a:chExt cx="1165195" cy="451814"/>
          </a:xfrm>
        </p:grpSpPr>
        <p:sp>
          <p:nvSpPr>
            <p:cNvPr id="26" name="Block Arc 25">
              <a:extLst>
                <a:ext uri="{FF2B5EF4-FFF2-40B4-BE49-F238E27FC236}">
                  <a16:creationId xmlns:a16="http://schemas.microsoft.com/office/drawing/2014/main" id="{0654CAFE-0F89-4D74-AB55-EB9EECC82C21}"/>
                </a:ext>
              </a:extLst>
            </p:cNvPr>
            <p:cNvSpPr/>
            <p:nvPr/>
          </p:nvSpPr>
          <p:spPr>
            <a:xfrm>
              <a:off x="5655278" y="1137188"/>
              <a:ext cx="628707" cy="451814"/>
            </a:xfrm>
            <a:prstGeom prst="blockArc">
              <a:avLst>
                <a:gd name="adj1" fmla="val 11016820"/>
                <a:gd name="adj2" fmla="val 13"/>
                <a:gd name="adj3" fmla="val 0"/>
              </a:avLst>
            </a:prstGeom>
            <a:noFill/>
            <a:ln w="19050">
              <a:solidFill>
                <a:srgbClr val="E3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43B95CA-0342-487C-4649-D0D82A91FAFB}"/>
                </a:ext>
              </a:extLst>
            </p:cNvPr>
            <p:cNvCxnSpPr>
              <a:cxnSpLocks/>
            </p:cNvCxnSpPr>
            <p:nvPr/>
          </p:nvCxnSpPr>
          <p:spPr>
            <a:xfrm>
              <a:off x="6280206" y="1358811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03450B1-1936-333C-FA4D-398810D4673C}"/>
                </a:ext>
              </a:extLst>
            </p:cNvPr>
            <p:cNvCxnSpPr>
              <a:cxnSpLocks/>
            </p:cNvCxnSpPr>
            <p:nvPr/>
          </p:nvCxnSpPr>
          <p:spPr>
            <a:xfrm>
              <a:off x="5389892" y="1353477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ACDB730-324A-3D35-65F9-0F3FB73A7A77}"/>
              </a:ext>
            </a:extLst>
          </p:cNvPr>
          <p:cNvGrpSpPr/>
          <p:nvPr/>
        </p:nvGrpSpPr>
        <p:grpSpPr>
          <a:xfrm flipH="1" flipV="1">
            <a:off x="2496249" y="1879288"/>
            <a:ext cx="894093" cy="375909"/>
            <a:chOff x="5389892" y="1137188"/>
            <a:chExt cx="1165195" cy="451814"/>
          </a:xfrm>
        </p:grpSpPr>
        <p:sp>
          <p:nvSpPr>
            <p:cNvPr id="30" name="Block Arc 29">
              <a:extLst>
                <a:ext uri="{FF2B5EF4-FFF2-40B4-BE49-F238E27FC236}">
                  <a16:creationId xmlns:a16="http://schemas.microsoft.com/office/drawing/2014/main" id="{9EE43EE4-5193-9F8B-7E6F-D68DB1FE1AD8}"/>
                </a:ext>
              </a:extLst>
            </p:cNvPr>
            <p:cNvSpPr/>
            <p:nvPr/>
          </p:nvSpPr>
          <p:spPr>
            <a:xfrm>
              <a:off x="5655278" y="1137188"/>
              <a:ext cx="628707" cy="451814"/>
            </a:xfrm>
            <a:prstGeom prst="blockArc">
              <a:avLst>
                <a:gd name="adj1" fmla="val 11016820"/>
                <a:gd name="adj2" fmla="val 13"/>
                <a:gd name="adj3" fmla="val 0"/>
              </a:avLst>
            </a:prstGeom>
            <a:noFill/>
            <a:ln w="19050">
              <a:solidFill>
                <a:srgbClr val="E3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245F73D-2E5D-F960-FE0B-3AD066D5163A}"/>
                </a:ext>
              </a:extLst>
            </p:cNvPr>
            <p:cNvCxnSpPr>
              <a:cxnSpLocks/>
            </p:cNvCxnSpPr>
            <p:nvPr/>
          </p:nvCxnSpPr>
          <p:spPr>
            <a:xfrm>
              <a:off x="6280206" y="1358811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E13A6DB-06D9-5001-384F-EE6F171FA1C6}"/>
                </a:ext>
              </a:extLst>
            </p:cNvPr>
            <p:cNvCxnSpPr>
              <a:cxnSpLocks/>
            </p:cNvCxnSpPr>
            <p:nvPr/>
          </p:nvCxnSpPr>
          <p:spPr>
            <a:xfrm>
              <a:off x="5389892" y="1353477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2AB22B-315E-3F4A-DBEC-D2397E78AAB7}"/>
              </a:ext>
            </a:extLst>
          </p:cNvPr>
          <p:cNvSpPr txBox="1"/>
          <p:nvPr/>
        </p:nvSpPr>
        <p:spPr>
          <a:xfrm>
            <a:off x="2690964" y="1520837"/>
            <a:ext cx="4876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</a:rPr>
              <a:t>R-</a:t>
            </a:r>
            <a:r>
              <a:rPr lang="en-US" sz="800" dirty="0">
                <a:solidFill>
                  <a:srgbClr val="E37201"/>
                </a:solidFill>
                <a:latin typeface="Helvetica" pitchFamily="2" charset="0"/>
              </a:rPr>
              <a:t>loop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4EB3B2E-C79A-1CB7-EA1D-1ACA26236166}"/>
              </a:ext>
            </a:extLst>
          </p:cNvPr>
          <p:cNvGrpSpPr/>
          <p:nvPr/>
        </p:nvGrpSpPr>
        <p:grpSpPr>
          <a:xfrm rot="21414676">
            <a:off x="2751525" y="2079514"/>
            <a:ext cx="301231" cy="246131"/>
            <a:chOff x="2541774" y="1471885"/>
            <a:chExt cx="264816" cy="215444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1DA79D2-9F0B-C658-D5D3-D690E99D5C54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8AF6216-6982-ACF9-71CB-12E82C3940FD}"/>
                </a:ext>
              </a:extLst>
            </p:cNvPr>
            <p:cNvSpPr txBox="1"/>
            <p:nvPr/>
          </p:nvSpPr>
          <p:spPr>
            <a:xfrm>
              <a:off x="2541774" y="1471885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</p:grpSp>
      <p:sp>
        <p:nvSpPr>
          <p:cNvPr id="37" name="Arc 36">
            <a:extLst>
              <a:ext uri="{FF2B5EF4-FFF2-40B4-BE49-F238E27FC236}">
                <a16:creationId xmlns:a16="http://schemas.microsoft.com/office/drawing/2014/main" id="{3CD99C77-09FE-8C76-46E9-2AF1A43CAC5B}"/>
              </a:ext>
            </a:extLst>
          </p:cNvPr>
          <p:cNvSpPr/>
          <p:nvPr/>
        </p:nvSpPr>
        <p:spPr>
          <a:xfrm rot="6137913">
            <a:off x="2892278" y="1964092"/>
            <a:ext cx="259051" cy="220233"/>
          </a:xfrm>
          <a:prstGeom prst="arc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9DBD46-9ABA-5F54-674E-F9E876F0F6F2}"/>
              </a:ext>
            </a:extLst>
          </p:cNvPr>
          <p:cNvGrpSpPr/>
          <p:nvPr/>
        </p:nvGrpSpPr>
        <p:grpSpPr>
          <a:xfrm flipH="1" flipV="1">
            <a:off x="6309526" y="1810366"/>
            <a:ext cx="894093" cy="375909"/>
            <a:chOff x="5389892" y="1137188"/>
            <a:chExt cx="1165195" cy="451814"/>
          </a:xfrm>
        </p:grpSpPr>
        <p:sp>
          <p:nvSpPr>
            <p:cNvPr id="39" name="Block Arc 38">
              <a:extLst>
                <a:ext uri="{FF2B5EF4-FFF2-40B4-BE49-F238E27FC236}">
                  <a16:creationId xmlns:a16="http://schemas.microsoft.com/office/drawing/2014/main" id="{E59AC106-09DA-E91F-E7B5-9E30F04399FB}"/>
                </a:ext>
              </a:extLst>
            </p:cNvPr>
            <p:cNvSpPr/>
            <p:nvPr/>
          </p:nvSpPr>
          <p:spPr>
            <a:xfrm>
              <a:off x="5655278" y="1137188"/>
              <a:ext cx="628707" cy="451814"/>
            </a:xfrm>
            <a:prstGeom prst="blockArc">
              <a:avLst>
                <a:gd name="adj1" fmla="val 11016820"/>
                <a:gd name="adj2" fmla="val 13"/>
                <a:gd name="adj3" fmla="val 0"/>
              </a:avLst>
            </a:prstGeom>
            <a:noFill/>
            <a:ln w="19050">
              <a:solidFill>
                <a:srgbClr val="E3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32E9BD0-FE8E-6818-CEBB-68C46C05443C}"/>
                </a:ext>
              </a:extLst>
            </p:cNvPr>
            <p:cNvCxnSpPr>
              <a:cxnSpLocks/>
            </p:cNvCxnSpPr>
            <p:nvPr/>
          </p:nvCxnSpPr>
          <p:spPr>
            <a:xfrm>
              <a:off x="6280206" y="1358811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AD1D1BE-C429-C1CC-E9AB-554F9A659152}"/>
                </a:ext>
              </a:extLst>
            </p:cNvPr>
            <p:cNvCxnSpPr>
              <a:cxnSpLocks/>
            </p:cNvCxnSpPr>
            <p:nvPr/>
          </p:nvCxnSpPr>
          <p:spPr>
            <a:xfrm>
              <a:off x="5389892" y="1353477"/>
              <a:ext cx="274881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2A8B2AB-39F9-ADD9-0538-D3047EFF5646}"/>
              </a:ext>
            </a:extLst>
          </p:cNvPr>
          <p:cNvSpPr txBox="1"/>
          <p:nvPr/>
        </p:nvSpPr>
        <p:spPr>
          <a:xfrm>
            <a:off x="6433196" y="1694118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</a:rPr>
              <a:t>RNA*-</a:t>
            </a:r>
            <a:r>
              <a:rPr lang="en-US" sz="800" dirty="0">
                <a:solidFill>
                  <a:srgbClr val="E37201"/>
                </a:solidFill>
                <a:latin typeface="Helvetica" pitchFamily="2" charset="0"/>
              </a:rPr>
              <a:t>DNA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2120D4-B5C6-931E-4EA6-8973FED0C22A}"/>
              </a:ext>
            </a:extLst>
          </p:cNvPr>
          <p:cNvGrpSpPr/>
          <p:nvPr/>
        </p:nvGrpSpPr>
        <p:grpSpPr>
          <a:xfrm rot="21414676">
            <a:off x="6564802" y="2010592"/>
            <a:ext cx="301231" cy="246131"/>
            <a:chOff x="2541774" y="1471885"/>
            <a:chExt cx="264816" cy="215444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255549C-95ED-2651-F75A-E03D90432191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2B6F841-053D-3ECF-E4F9-A3167A2F5BA5}"/>
                </a:ext>
              </a:extLst>
            </p:cNvPr>
            <p:cNvSpPr txBox="1"/>
            <p:nvPr/>
          </p:nvSpPr>
          <p:spPr>
            <a:xfrm>
              <a:off x="2541774" y="1471885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</p:grpSp>
      <p:sp>
        <p:nvSpPr>
          <p:cNvPr id="46" name="Arc 45">
            <a:extLst>
              <a:ext uri="{FF2B5EF4-FFF2-40B4-BE49-F238E27FC236}">
                <a16:creationId xmlns:a16="http://schemas.microsoft.com/office/drawing/2014/main" id="{20434F6E-AE25-04DD-CE79-81E0DCA2405F}"/>
              </a:ext>
            </a:extLst>
          </p:cNvPr>
          <p:cNvSpPr/>
          <p:nvPr/>
        </p:nvSpPr>
        <p:spPr>
          <a:xfrm rot="6137913">
            <a:off x="6705555" y="1895170"/>
            <a:ext cx="259051" cy="220233"/>
          </a:xfrm>
          <a:prstGeom prst="arc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E7E00-C6A0-81BD-1441-00D30469F5A9}"/>
              </a:ext>
            </a:extLst>
          </p:cNvPr>
          <p:cNvSpPr txBox="1"/>
          <p:nvPr/>
        </p:nvSpPr>
        <p:spPr>
          <a:xfrm>
            <a:off x="544286" y="522514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8E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1F19F-A103-7191-52B1-9BE35B2AC16B}"/>
              </a:ext>
            </a:extLst>
          </p:cNvPr>
          <p:cNvSpPr txBox="1"/>
          <p:nvPr/>
        </p:nvSpPr>
        <p:spPr>
          <a:xfrm>
            <a:off x="1109128" y="2777516"/>
            <a:ext cx="3988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    500   0                        500  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757575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D9A196-5315-CD6A-D5D8-E59953ECCBC6}"/>
              </a:ext>
            </a:extLst>
          </p:cNvPr>
          <p:cNvSpPr/>
          <p:nvPr/>
        </p:nvSpPr>
        <p:spPr>
          <a:xfrm>
            <a:off x="984056" y="1435886"/>
            <a:ext cx="2668956" cy="38885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D78591-784C-639B-2C91-E970A8B1E2E3}"/>
              </a:ext>
            </a:extLst>
          </p:cNvPr>
          <p:cNvSpPr/>
          <p:nvPr/>
        </p:nvSpPr>
        <p:spPr>
          <a:xfrm>
            <a:off x="6020291" y="1522590"/>
            <a:ext cx="1471890" cy="38885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07867-E810-34E6-67CF-89307262A8C4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5739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7B3182-F8E0-A1A5-96D1-FF27A6A9A187}"/>
              </a:ext>
            </a:extLst>
          </p:cNvPr>
          <p:cNvSpPr txBox="1"/>
          <p:nvPr/>
        </p:nvSpPr>
        <p:spPr>
          <a:xfrm>
            <a:off x="3191626" y="1441113"/>
            <a:ext cx="61157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              1     0                                  1     0                                  1       Units of Exonuclease T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7FDFBA7F-A426-4FE3-F4D8-8103B9287679}"/>
              </a:ext>
            </a:extLst>
          </p:cNvPr>
          <p:cNvSpPr/>
          <p:nvPr/>
        </p:nvSpPr>
        <p:spPr>
          <a:xfrm flipH="1">
            <a:off x="3258717" y="1294363"/>
            <a:ext cx="1378655" cy="15703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28AD59-C8CE-E52C-9751-0F7FC21E850B}"/>
              </a:ext>
            </a:extLst>
          </p:cNvPr>
          <p:cNvCxnSpPr>
            <a:cxnSpLocks/>
          </p:cNvCxnSpPr>
          <p:nvPr/>
        </p:nvCxnSpPr>
        <p:spPr>
          <a:xfrm>
            <a:off x="3258717" y="1168899"/>
            <a:ext cx="137865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A7297AB7-ABA2-4C7A-788B-90D18DCAFAF1}"/>
              </a:ext>
            </a:extLst>
          </p:cNvPr>
          <p:cNvSpPr/>
          <p:nvPr/>
        </p:nvSpPr>
        <p:spPr>
          <a:xfrm flipH="1">
            <a:off x="4789397" y="1294363"/>
            <a:ext cx="1378655" cy="15703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F5DD1B85-62A3-2BBA-0813-B1907FE9CB18}"/>
              </a:ext>
            </a:extLst>
          </p:cNvPr>
          <p:cNvSpPr/>
          <p:nvPr/>
        </p:nvSpPr>
        <p:spPr>
          <a:xfrm flipH="1">
            <a:off x="6320077" y="1294363"/>
            <a:ext cx="1378655" cy="15703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CEDE9D-6B20-B87F-A59D-A21A1903EB2A}"/>
              </a:ext>
            </a:extLst>
          </p:cNvPr>
          <p:cNvCxnSpPr>
            <a:cxnSpLocks/>
          </p:cNvCxnSpPr>
          <p:nvPr/>
        </p:nvCxnSpPr>
        <p:spPr>
          <a:xfrm>
            <a:off x="4789397" y="1168899"/>
            <a:ext cx="137865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80C15A-380E-A464-7CA0-A1940AB19196}"/>
              </a:ext>
            </a:extLst>
          </p:cNvPr>
          <p:cNvCxnSpPr>
            <a:cxnSpLocks/>
          </p:cNvCxnSpPr>
          <p:nvPr/>
        </p:nvCxnSpPr>
        <p:spPr>
          <a:xfrm>
            <a:off x="6320077" y="1168899"/>
            <a:ext cx="137865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43445F-A4A6-E873-0A01-AEA39708E4EB}"/>
              </a:ext>
            </a:extLst>
          </p:cNvPr>
          <p:cNvGrpSpPr/>
          <p:nvPr/>
        </p:nvGrpSpPr>
        <p:grpSpPr>
          <a:xfrm>
            <a:off x="3258717" y="584948"/>
            <a:ext cx="1389838" cy="454011"/>
            <a:chOff x="3991310" y="926163"/>
            <a:chExt cx="1389838" cy="45401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19FED56-771E-C306-81F0-E647A0AE6A3F}"/>
                </a:ext>
              </a:extLst>
            </p:cNvPr>
            <p:cNvGrpSpPr/>
            <p:nvPr/>
          </p:nvGrpSpPr>
          <p:grpSpPr>
            <a:xfrm>
              <a:off x="3991310" y="926163"/>
              <a:ext cx="1112313" cy="454011"/>
              <a:chOff x="2504372" y="1227131"/>
              <a:chExt cx="1112313" cy="45401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966E92B-1689-5D1B-A46C-BA11D67BC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7642" y="1576396"/>
                <a:ext cx="899043" cy="0"/>
              </a:xfrm>
              <a:prstGeom prst="line">
                <a:avLst/>
              </a:prstGeom>
              <a:ln w="19050">
                <a:solidFill>
                  <a:srgbClr val="FF4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E0FB0DD-5747-1B4A-C489-A10A1019D501}"/>
                  </a:ext>
                </a:extLst>
              </p:cNvPr>
              <p:cNvSpPr/>
              <p:nvPr/>
            </p:nvSpPr>
            <p:spPr>
              <a:xfrm>
                <a:off x="2707538" y="1550561"/>
                <a:ext cx="46180" cy="45719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D043F7-BA9B-8947-D831-DE46DD1FEFF1}"/>
                  </a:ext>
                </a:extLst>
              </p:cNvPr>
              <p:cNvSpPr txBox="1"/>
              <p:nvPr/>
            </p:nvSpPr>
            <p:spPr>
              <a:xfrm>
                <a:off x="2504372" y="1465698"/>
                <a:ext cx="2648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5’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5732866-2EDA-1BF6-57C6-69F4CB78C35F}"/>
                  </a:ext>
                </a:extLst>
              </p:cNvPr>
              <p:cNvSpPr txBox="1"/>
              <p:nvPr/>
            </p:nvSpPr>
            <p:spPr>
              <a:xfrm>
                <a:off x="2915331" y="1227131"/>
                <a:ext cx="5036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40FF"/>
                    </a:solidFill>
                    <a:latin typeface="Helvetica" pitchFamily="2" charset="0"/>
                  </a:rPr>
                  <a:t>ssRNA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FE1F36-16FD-234C-40C5-2C814C219D60}"/>
                </a:ext>
              </a:extLst>
            </p:cNvPr>
            <p:cNvSpPr txBox="1"/>
            <p:nvPr/>
          </p:nvSpPr>
          <p:spPr>
            <a:xfrm>
              <a:off x="5042594" y="1164730"/>
              <a:ext cx="3385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OH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FD18A9-44CE-E8EE-9C67-DDFB5BB3E343}"/>
              </a:ext>
            </a:extLst>
          </p:cNvPr>
          <p:cNvGrpSpPr/>
          <p:nvPr/>
        </p:nvGrpSpPr>
        <p:grpSpPr>
          <a:xfrm>
            <a:off x="4839379" y="589425"/>
            <a:ext cx="1304880" cy="454011"/>
            <a:chOff x="3991310" y="926163"/>
            <a:chExt cx="1304880" cy="45401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25EECE6-46F1-7871-DAEA-C41444AB70F5}"/>
                </a:ext>
              </a:extLst>
            </p:cNvPr>
            <p:cNvGrpSpPr/>
            <p:nvPr/>
          </p:nvGrpSpPr>
          <p:grpSpPr>
            <a:xfrm>
              <a:off x="3991310" y="926163"/>
              <a:ext cx="1112313" cy="454011"/>
              <a:chOff x="2504372" y="1227131"/>
              <a:chExt cx="1112313" cy="454011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2CD4F12-E8DE-EF8A-288B-98FA7F959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7642" y="1576396"/>
                <a:ext cx="899043" cy="0"/>
              </a:xfrm>
              <a:prstGeom prst="line">
                <a:avLst/>
              </a:prstGeom>
              <a:ln w="19050">
                <a:solidFill>
                  <a:srgbClr val="FF4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B1CA4A6-182D-1B11-4DB9-A0266057D861}"/>
                  </a:ext>
                </a:extLst>
              </p:cNvPr>
              <p:cNvSpPr/>
              <p:nvPr/>
            </p:nvSpPr>
            <p:spPr>
              <a:xfrm>
                <a:off x="2707538" y="1550561"/>
                <a:ext cx="46180" cy="45719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AC61CA1-B2E4-269F-8A3C-5E2111869725}"/>
                  </a:ext>
                </a:extLst>
              </p:cNvPr>
              <p:cNvSpPr txBox="1"/>
              <p:nvPr/>
            </p:nvSpPr>
            <p:spPr>
              <a:xfrm>
                <a:off x="2504372" y="1465698"/>
                <a:ext cx="2648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5’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B3C53CA-D0F9-CA48-F25B-3CA67117388D}"/>
                  </a:ext>
                </a:extLst>
              </p:cNvPr>
              <p:cNvSpPr txBox="1"/>
              <p:nvPr/>
            </p:nvSpPr>
            <p:spPr>
              <a:xfrm>
                <a:off x="2915331" y="1227131"/>
                <a:ext cx="5036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40FF"/>
                    </a:solidFill>
                    <a:latin typeface="Helvetica" pitchFamily="2" charset="0"/>
                  </a:rPr>
                  <a:t>ssRNA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93EEDC2-92E4-6CAB-04B4-2134DE67CF6B}"/>
                </a:ext>
              </a:extLst>
            </p:cNvPr>
            <p:cNvSpPr txBox="1"/>
            <p:nvPr/>
          </p:nvSpPr>
          <p:spPr>
            <a:xfrm>
              <a:off x="5042594" y="1164730"/>
              <a:ext cx="25359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P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AB93E1-15BE-EA93-22A9-B2757E8B1376}"/>
              </a:ext>
            </a:extLst>
          </p:cNvPr>
          <p:cNvGrpSpPr/>
          <p:nvPr/>
        </p:nvGrpSpPr>
        <p:grpSpPr>
          <a:xfrm>
            <a:off x="6265763" y="584948"/>
            <a:ext cx="1494034" cy="454011"/>
            <a:chOff x="3991310" y="926163"/>
            <a:chExt cx="1494034" cy="45401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47402E7-B404-2897-2C8D-4608BBCA5BB8}"/>
                </a:ext>
              </a:extLst>
            </p:cNvPr>
            <p:cNvGrpSpPr/>
            <p:nvPr/>
          </p:nvGrpSpPr>
          <p:grpSpPr>
            <a:xfrm>
              <a:off x="3991310" y="926163"/>
              <a:ext cx="1112313" cy="454011"/>
              <a:chOff x="2504372" y="1227131"/>
              <a:chExt cx="1112313" cy="45401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229DD48-D359-EB21-5868-2EAB80185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7642" y="1576396"/>
                <a:ext cx="899043" cy="0"/>
              </a:xfrm>
              <a:prstGeom prst="line">
                <a:avLst/>
              </a:prstGeom>
              <a:ln w="19050">
                <a:solidFill>
                  <a:srgbClr val="FF4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CA6A547-1922-4744-3D9F-026A00E6E403}"/>
                  </a:ext>
                </a:extLst>
              </p:cNvPr>
              <p:cNvSpPr/>
              <p:nvPr/>
            </p:nvSpPr>
            <p:spPr>
              <a:xfrm>
                <a:off x="2707538" y="1550561"/>
                <a:ext cx="46180" cy="45719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D6C23EC-0056-7BB2-5479-FA4E6C10A93F}"/>
                  </a:ext>
                </a:extLst>
              </p:cNvPr>
              <p:cNvSpPr txBox="1"/>
              <p:nvPr/>
            </p:nvSpPr>
            <p:spPr>
              <a:xfrm>
                <a:off x="2504372" y="1465698"/>
                <a:ext cx="2648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5’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98968DC-7C21-0560-05F6-D22066F03B9E}"/>
                  </a:ext>
                </a:extLst>
              </p:cNvPr>
              <p:cNvSpPr txBox="1"/>
              <p:nvPr/>
            </p:nvSpPr>
            <p:spPr>
              <a:xfrm>
                <a:off x="2915331" y="1227131"/>
                <a:ext cx="5036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40FF"/>
                    </a:solidFill>
                    <a:latin typeface="Helvetica" pitchFamily="2" charset="0"/>
                  </a:rPr>
                  <a:t>ssRNA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24D694-0772-FA68-9BF1-854FC027B2A7}"/>
                </a:ext>
              </a:extLst>
            </p:cNvPr>
            <p:cNvSpPr txBox="1"/>
            <p:nvPr/>
          </p:nvSpPr>
          <p:spPr>
            <a:xfrm>
              <a:off x="5042594" y="1164730"/>
              <a:ext cx="4427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Biotin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2FC50E17-DFFF-371A-F472-0CC857E419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1737" t="-2936" r="-1621" b="-1579"/>
          <a:stretch/>
        </p:blipFill>
        <p:spPr>
          <a:xfrm>
            <a:off x="2463889" y="1643873"/>
            <a:ext cx="5572897" cy="4275437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632CA7-EBDD-568A-CF37-C6AFFF45B06D}"/>
              </a:ext>
            </a:extLst>
          </p:cNvPr>
          <p:cNvSpPr txBox="1"/>
          <p:nvPr/>
        </p:nvSpPr>
        <p:spPr>
          <a:xfrm>
            <a:off x="494270" y="370703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8D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6AC11-C2A6-8511-E2DC-C252BFB012B0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9391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2E50B4-A11B-D3C4-9EB2-0A24D08B2F2F}"/>
              </a:ext>
            </a:extLst>
          </p:cNvPr>
          <p:cNvSpPr txBox="1"/>
          <p:nvPr/>
        </p:nvSpPr>
        <p:spPr>
          <a:xfrm>
            <a:off x="3184834" y="2055189"/>
            <a:ext cx="63514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       0                     500    0                      500   0                      500   0                      500 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757575"/>
                </a:solidFill>
                <a:latin typeface="Helvetica" pitchFamily="2" charset="0"/>
              </a:rPr>
              <a:t>Codanin-1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B68EF6-5BB8-172B-261A-D3E17190ACB5}"/>
              </a:ext>
            </a:extLst>
          </p:cNvPr>
          <p:cNvGrpSpPr/>
          <p:nvPr/>
        </p:nvGrpSpPr>
        <p:grpSpPr>
          <a:xfrm>
            <a:off x="6856290" y="1054154"/>
            <a:ext cx="1027785" cy="454011"/>
            <a:chOff x="2504372" y="1227131"/>
            <a:chExt cx="1027785" cy="45401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4142C5-8815-DD08-335A-1769EC969334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814515" cy="0"/>
            </a:xfrm>
            <a:prstGeom prst="line">
              <a:avLst/>
            </a:prstGeom>
            <a:ln w="19050">
              <a:solidFill>
                <a:srgbClr val="FF4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D06CD48-65FA-E5D6-0DDD-8EFF7DB5A91D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6F776C-AAAB-799F-AE6E-E1BBAA9C6F12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BEC2E6-EE5E-6226-C010-911B069F95E7}"/>
                </a:ext>
              </a:extLst>
            </p:cNvPr>
            <p:cNvSpPr txBox="1"/>
            <p:nvPr/>
          </p:nvSpPr>
          <p:spPr>
            <a:xfrm>
              <a:off x="2874691" y="1227131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40FF"/>
                  </a:solidFill>
                  <a:latin typeface="Helvetica" pitchFamily="2" charset="0"/>
                </a:rPr>
                <a:t>RNA-</a:t>
              </a:r>
              <a:r>
                <a:rPr lang="en-US" sz="800" dirty="0">
                  <a:solidFill>
                    <a:srgbClr val="E37201"/>
                  </a:solidFill>
                  <a:latin typeface="Helvetica" pitchFamily="2" charset="0"/>
                </a:rPr>
                <a:t>DNA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57B11A4-BDD9-2DE4-5C61-D45A7D3D1353}"/>
              </a:ext>
            </a:extLst>
          </p:cNvPr>
          <p:cNvSpPr txBox="1"/>
          <p:nvPr/>
        </p:nvSpPr>
        <p:spPr>
          <a:xfrm>
            <a:off x="7805707" y="1297293"/>
            <a:ext cx="2135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5366DA-8175-C151-6F42-81AD6545161A}"/>
              </a:ext>
            </a:extLst>
          </p:cNvPr>
          <p:cNvCxnSpPr>
            <a:cxnSpLocks/>
          </p:cNvCxnSpPr>
          <p:nvPr/>
        </p:nvCxnSpPr>
        <p:spPr>
          <a:xfrm>
            <a:off x="7930755" y="1405015"/>
            <a:ext cx="69126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777196-924E-4626-8EBB-7E67FD7ECD62}"/>
              </a:ext>
            </a:extLst>
          </p:cNvPr>
          <p:cNvGrpSpPr/>
          <p:nvPr/>
        </p:nvGrpSpPr>
        <p:grpSpPr>
          <a:xfrm>
            <a:off x="5664057" y="1054154"/>
            <a:ext cx="1027785" cy="454011"/>
            <a:chOff x="2504372" y="1227131"/>
            <a:chExt cx="1027785" cy="45401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040C567-2446-3768-3AAD-9F96781290B5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814515" cy="0"/>
            </a:xfrm>
            <a:prstGeom prst="line">
              <a:avLst/>
            </a:prstGeom>
            <a:ln w="19050">
              <a:solidFill>
                <a:srgbClr val="FF4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AA030E5-4225-C7FB-86B2-4D4937A405FC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F90A7E-1A24-95CB-37B5-C68646DA5077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0C58A52-4641-9791-F17F-B68C79B80D14}"/>
                </a:ext>
              </a:extLst>
            </p:cNvPr>
            <p:cNvSpPr txBox="1"/>
            <p:nvPr/>
          </p:nvSpPr>
          <p:spPr>
            <a:xfrm>
              <a:off x="2864531" y="1227131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40FF"/>
                  </a:solidFill>
                  <a:latin typeface="Helvetica" pitchFamily="2" charset="0"/>
                </a:rPr>
                <a:t>RNA-</a:t>
              </a:r>
              <a:r>
                <a:rPr lang="en-US" sz="800" dirty="0">
                  <a:solidFill>
                    <a:srgbClr val="E37201"/>
                  </a:solidFill>
                  <a:latin typeface="Helvetica" pitchFamily="2" charset="0"/>
                </a:rPr>
                <a:t>DNA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8FC3690-EE02-F58A-3107-04D7D228650C}"/>
              </a:ext>
            </a:extLst>
          </p:cNvPr>
          <p:cNvSpPr txBox="1"/>
          <p:nvPr/>
        </p:nvSpPr>
        <p:spPr>
          <a:xfrm>
            <a:off x="6613474" y="1297293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A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21A12F-5610-038B-CD8B-7F81D97E45D7}"/>
              </a:ext>
            </a:extLst>
          </p:cNvPr>
          <p:cNvCxnSpPr>
            <a:cxnSpLocks/>
          </p:cNvCxnSpPr>
          <p:nvPr/>
        </p:nvCxnSpPr>
        <p:spPr>
          <a:xfrm>
            <a:off x="6779670" y="1405015"/>
            <a:ext cx="69126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6B6D50-4C75-BD59-7415-E172433E5822}"/>
              </a:ext>
            </a:extLst>
          </p:cNvPr>
          <p:cNvGrpSpPr/>
          <p:nvPr/>
        </p:nvGrpSpPr>
        <p:grpSpPr>
          <a:xfrm>
            <a:off x="4482251" y="1050967"/>
            <a:ext cx="1027785" cy="454011"/>
            <a:chOff x="2504372" y="1227131"/>
            <a:chExt cx="1027785" cy="45401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4BF626-7ADD-83EF-8FF6-AFA5517FE320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814515" cy="0"/>
            </a:xfrm>
            <a:prstGeom prst="line">
              <a:avLst/>
            </a:prstGeom>
            <a:ln w="19050">
              <a:solidFill>
                <a:srgbClr val="FF4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B3D0A92-10E2-445B-5CF9-37586049821B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C7B622-E68F-FE4B-44E3-B0D6C238537F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866469F-4A6F-9FFE-D8A5-202F791BA943}"/>
                </a:ext>
              </a:extLst>
            </p:cNvPr>
            <p:cNvSpPr txBox="1"/>
            <p:nvPr/>
          </p:nvSpPr>
          <p:spPr>
            <a:xfrm>
              <a:off x="2874691" y="1227131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40FF"/>
                  </a:solidFill>
                  <a:latin typeface="Helvetica" pitchFamily="2" charset="0"/>
                </a:rPr>
                <a:t>RNA-</a:t>
              </a:r>
              <a:r>
                <a:rPr lang="en-US" sz="800" dirty="0">
                  <a:solidFill>
                    <a:srgbClr val="E37201"/>
                  </a:solidFill>
                  <a:latin typeface="Helvetica" pitchFamily="2" charset="0"/>
                </a:rPr>
                <a:t>DNA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7671DF7-6A50-C41F-3E6F-20C512C3D7A2}"/>
              </a:ext>
            </a:extLst>
          </p:cNvPr>
          <p:cNvSpPr txBox="1"/>
          <p:nvPr/>
        </p:nvSpPr>
        <p:spPr>
          <a:xfrm>
            <a:off x="5431668" y="1294106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2958E1C-DC04-3707-B5E3-EEDB00F60B40}"/>
              </a:ext>
            </a:extLst>
          </p:cNvPr>
          <p:cNvCxnSpPr>
            <a:cxnSpLocks/>
          </p:cNvCxnSpPr>
          <p:nvPr/>
        </p:nvCxnSpPr>
        <p:spPr>
          <a:xfrm>
            <a:off x="5597864" y="1401828"/>
            <a:ext cx="69126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952AA14-E562-35BA-B82D-2D4986120055}"/>
              </a:ext>
            </a:extLst>
          </p:cNvPr>
          <p:cNvCxnSpPr>
            <a:cxnSpLocks/>
          </p:cNvCxnSpPr>
          <p:nvPr/>
        </p:nvCxnSpPr>
        <p:spPr>
          <a:xfrm>
            <a:off x="5582103" y="1440787"/>
            <a:ext cx="31636" cy="5364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6680BE6-5E9F-2339-5930-47F43CD6A36B}"/>
              </a:ext>
            </a:extLst>
          </p:cNvPr>
          <p:cNvSpPr txBox="1"/>
          <p:nvPr/>
        </p:nvSpPr>
        <p:spPr>
          <a:xfrm>
            <a:off x="5521136" y="1435740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Helvetica" pitchFamily="2" charset="0"/>
              </a:rPr>
              <a:t>CH</a:t>
            </a:r>
            <a:r>
              <a:rPr lang="en-US" sz="600" baseline="-25000" dirty="0">
                <a:latin typeface="Helvetica" pitchFamily="2" charset="0"/>
              </a:rPr>
              <a:t>3</a:t>
            </a:r>
            <a:endParaRPr lang="en-US" sz="600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7EFF5E-C107-0EF6-6254-370265FA6694}"/>
              </a:ext>
            </a:extLst>
          </p:cNvPr>
          <p:cNvSpPr txBox="1"/>
          <p:nvPr/>
        </p:nvSpPr>
        <p:spPr>
          <a:xfrm>
            <a:off x="5383173" y="1183823"/>
            <a:ext cx="3289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Helvetica" pitchFamily="2" charset="0"/>
              </a:rPr>
              <a:t>m</a:t>
            </a:r>
            <a:r>
              <a:rPr lang="en-US" sz="600" baseline="30000" dirty="0">
                <a:latin typeface="Helvetica" pitchFamily="2" charset="0"/>
              </a:rPr>
              <a:t>2</a:t>
            </a:r>
            <a:r>
              <a:rPr lang="en-US" sz="600" dirty="0">
                <a:latin typeface="Helvetica" pitchFamily="2" charset="0"/>
              </a:rPr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2814D4-A17B-4CA9-6EA3-F8A6D82E8E52}"/>
              </a:ext>
            </a:extLst>
          </p:cNvPr>
          <p:cNvSpPr txBox="1"/>
          <p:nvPr/>
        </p:nvSpPr>
        <p:spPr>
          <a:xfrm>
            <a:off x="6464422" y="1178446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Helvetica" pitchFamily="2" charset="0"/>
              </a:rPr>
              <a:t>H</a:t>
            </a:r>
            <a:r>
              <a:rPr lang="en-US" sz="600" baseline="-25000" dirty="0">
                <a:latin typeface="Helvetica" pitchFamily="2" charset="0"/>
              </a:rPr>
              <a:t>3</a:t>
            </a:r>
            <a:r>
              <a:rPr lang="en-US" sz="600" dirty="0">
                <a:latin typeface="Helvetica" pitchFamily="2" charset="0"/>
              </a:rPr>
              <a:t>C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D6E4E5F-5DFB-024C-4235-9FC7A0FB3839}"/>
              </a:ext>
            </a:extLst>
          </p:cNvPr>
          <p:cNvCxnSpPr>
            <a:cxnSpLocks/>
          </p:cNvCxnSpPr>
          <p:nvPr/>
        </p:nvCxnSpPr>
        <p:spPr>
          <a:xfrm>
            <a:off x="6691842" y="1304298"/>
            <a:ext cx="31636" cy="5364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3F4CCF8-E35F-6C1D-1162-1600CAC540AD}"/>
              </a:ext>
            </a:extLst>
          </p:cNvPr>
          <p:cNvSpPr txBox="1"/>
          <p:nvPr/>
        </p:nvSpPr>
        <p:spPr>
          <a:xfrm>
            <a:off x="6578481" y="1419396"/>
            <a:ext cx="3289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Helvetica" pitchFamily="2" charset="0"/>
              </a:rPr>
              <a:t>m</a:t>
            </a:r>
            <a:r>
              <a:rPr lang="en-US" sz="600" baseline="30000" dirty="0">
                <a:latin typeface="Helvetica" pitchFamily="2" charset="0"/>
              </a:rPr>
              <a:t>6</a:t>
            </a:r>
            <a:r>
              <a:rPr lang="en-US" sz="600" dirty="0">
                <a:latin typeface="Helvetica" pitchFamily="2" charset="0"/>
              </a:rPr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503730-ECC5-3BE1-E232-974B3E243123}"/>
              </a:ext>
            </a:extLst>
          </p:cNvPr>
          <p:cNvSpPr txBox="1"/>
          <p:nvPr/>
        </p:nvSpPr>
        <p:spPr>
          <a:xfrm>
            <a:off x="7706724" y="1428269"/>
            <a:ext cx="4347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Helvetica" pitchFamily="2" charset="0"/>
              </a:rPr>
              <a:t>Inosine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C96F487-AB19-EB8E-69A3-D33BC73015E0}"/>
              </a:ext>
            </a:extLst>
          </p:cNvPr>
          <p:cNvCxnSpPr>
            <a:cxnSpLocks/>
          </p:cNvCxnSpPr>
          <p:nvPr/>
        </p:nvCxnSpPr>
        <p:spPr>
          <a:xfrm flipV="1">
            <a:off x="4719707" y="1589307"/>
            <a:ext cx="944350" cy="918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5B0D17-8065-54BF-AFCD-99522CA5D918}"/>
              </a:ext>
            </a:extLst>
          </p:cNvPr>
          <p:cNvCxnSpPr>
            <a:cxnSpLocks/>
          </p:cNvCxnSpPr>
          <p:nvPr/>
        </p:nvCxnSpPr>
        <p:spPr>
          <a:xfrm flipV="1">
            <a:off x="5890284" y="1596682"/>
            <a:ext cx="944350" cy="918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307773-4584-1FB0-CBC2-09DB2FDF7862}"/>
              </a:ext>
            </a:extLst>
          </p:cNvPr>
          <p:cNvCxnSpPr>
            <a:cxnSpLocks/>
          </p:cNvCxnSpPr>
          <p:nvPr/>
        </p:nvCxnSpPr>
        <p:spPr>
          <a:xfrm flipV="1">
            <a:off x="7059456" y="1585828"/>
            <a:ext cx="944350" cy="918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77252E09-B611-DA7F-A665-DDD482E3EE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2096" t="-4973" r="-2619" b="-4185"/>
          <a:stretch/>
        </p:blipFill>
        <p:spPr>
          <a:xfrm>
            <a:off x="2655747" y="2178299"/>
            <a:ext cx="6216404" cy="3663118"/>
          </a:xfrm>
          <a:prstGeom prst="rect">
            <a:avLst/>
          </a:prstGeom>
          <a:ln>
            <a:noFill/>
          </a:ln>
        </p:spPr>
      </p:pic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C36D8CEF-7BDD-F614-87DE-E594F846A29E}"/>
              </a:ext>
            </a:extLst>
          </p:cNvPr>
          <p:cNvSpPr/>
          <p:nvPr/>
        </p:nvSpPr>
        <p:spPr>
          <a:xfrm flipH="1">
            <a:off x="3490467" y="1896861"/>
            <a:ext cx="1019122" cy="156364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60413B2-D616-34F6-04B9-0AC80B93357A}"/>
              </a:ext>
            </a:extLst>
          </p:cNvPr>
          <p:cNvCxnSpPr>
            <a:cxnSpLocks/>
          </p:cNvCxnSpPr>
          <p:nvPr/>
        </p:nvCxnSpPr>
        <p:spPr>
          <a:xfrm>
            <a:off x="3473957" y="1780083"/>
            <a:ext cx="103563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ight Triangle 61">
            <a:extLst>
              <a:ext uri="{FF2B5EF4-FFF2-40B4-BE49-F238E27FC236}">
                <a16:creationId xmlns:a16="http://schemas.microsoft.com/office/drawing/2014/main" id="{CECABD81-78BF-EF7E-A0D8-D8B22333E1C8}"/>
              </a:ext>
            </a:extLst>
          </p:cNvPr>
          <p:cNvSpPr/>
          <p:nvPr/>
        </p:nvSpPr>
        <p:spPr>
          <a:xfrm flipH="1">
            <a:off x="4673408" y="1896861"/>
            <a:ext cx="1019122" cy="156364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63" name="Right Triangle 62">
            <a:extLst>
              <a:ext uri="{FF2B5EF4-FFF2-40B4-BE49-F238E27FC236}">
                <a16:creationId xmlns:a16="http://schemas.microsoft.com/office/drawing/2014/main" id="{B66F6F4D-F93C-9F17-1ED8-36D0F70447F2}"/>
              </a:ext>
            </a:extLst>
          </p:cNvPr>
          <p:cNvSpPr/>
          <p:nvPr/>
        </p:nvSpPr>
        <p:spPr>
          <a:xfrm flipH="1">
            <a:off x="5826560" y="1896861"/>
            <a:ext cx="1019122" cy="156364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48B11385-7992-8FBE-FF9A-3D84739E1708}"/>
              </a:ext>
            </a:extLst>
          </p:cNvPr>
          <p:cNvSpPr/>
          <p:nvPr/>
        </p:nvSpPr>
        <p:spPr>
          <a:xfrm flipH="1">
            <a:off x="7009501" y="1896861"/>
            <a:ext cx="1019122" cy="156364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D2E693-8486-2F28-082D-FD3517177C50}"/>
              </a:ext>
            </a:extLst>
          </p:cNvPr>
          <p:cNvCxnSpPr>
            <a:cxnSpLocks/>
          </p:cNvCxnSpPr>
          <p:nvPr/>
        </p:nvCxnSpPr>
        <p:spPr>
          <a:xfrm>
            <a:off x="4668098" y="1780083"/>
            <a:ext cx="103563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5D74DE0-825E-7BB6-12B8-6C07A0F04BA2}"/>
              </a:ext>
            </a:extLst>
          </p:cNvPr>
          <p:cNvCxnSpPr>
            <a:cxnSpLocks/>
          </p:cNvCxnSpPr>
          <p:nvPr/>
        </p:nvCxnSpPr>
        <p:spPr>
          <a:xfrm>
            <a:off x="5822414" y="1780083"/>
            <a:ext cx="103563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5BB288D-D0F4-856F-9A91-0A07C64B6500}"/>
              </a:ext>
            </a:extLst>
          </p:cNvPr>
          <p:cNvCxnSpPr>
            <a:cxnSpLocks/>
          </p:cNvCxnSpPr>
          <p:nvPr/>
        </p:nvCxnSpPr>
        <p:spPr>
          <a:xfrm>
            <a:off x="7016555" y="1780083"/>
            <a:ext cx="103563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BB857CC-4E7B-41FF-B4EB-C8D9029ED769}"/>
              </a:ext>
            </a:extLst>
          </p:cNvPr>
          <p:cNvGrpSpPr/>
          <p:nvPr/>
        </p:nvGrpSpPr>
        <p:grpSpPr>
          <a:xfrm>
            <a:off x="3290341" y="1041852"/>
            <a:ext cx="1181806" cy="454011"/>
            <a:chOff x="2504372" y="1227131"/>
            <a:chExt cx="1181806" cy="454011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3F33E3E-61D4-1674-E837-0599E6B1346A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968536" cy="0"/>
            </a:xfrm>
            <a:prstGeom prst="line">
              <a:avLst/>
            </a:prstGeom>
            <a:ln w="19050">
              <a:solidFill>
                <a:srgbClr val="FF4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BB706A0-3CB8-EBFF-31A1-748EE814DBC5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1AABDEE-64C5-7968-BE9F-E995DDDE7615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C8ED013-010C-246E-E158-9FDC8DC77977}"/>
                </a:ext>
              </a:extLst>
            </p:cNvPr>
            <p:cNvSpPr txBox="1"/>
            <p:nvPr/>
          </p:nvSpPr>
          <p:spPr>
            <a:xfrm>
              <a:off x="2874691" y="1227131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40FF"/>
                  </a:solidFill>
                  <a:latin typeface="Helvetica" pitchFamily="2" charset="0"/>
                </a:rPr>
                <a:t>RNA-</a:t>
              </a:r>
              <a:r>
                <a:rPr lang="en-US" sz="800" dirty="0">
                  <a:solidFill>
                    <a:srgbClr val="E37201"/>
                  </a:solidFill>
                  <a:latin typeface="Helvetica" pitchFamily="2" charset="0"/>
                </a:rPr>
                <a:t>DNA</a:t>
              </a:r>
            </a:p>
          </p:txBody>
        </p: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F9E3F2B-8E28-43FD-EB70-FE0711ABD48D}"/>
              </a:ext>
            </a:extLst>
          </p:cNvPr>
          <p:cNvCxnSpPr>
            <a:cxnSpLocks/>
          </p:cNvCxnSpPr>
          <p:nvPr/>
        </p:nvCxnSpPr>
        <p:spPr>
          <a:xfrm flipV="1">
            <a:off x="3527797" y="1580192"/>
            <a:ext cx="944350" cy="918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F4260B-ABB2-1456-8E8A-CA240F921D10}"/>
              </a:ext>
            </a:extLst>
          </p:cNvPr>
          <p:cNvSpPr txBox="1"/>
          <p:nvPr/>
        </p:nvSpPr>
        <p:spPr>
          <a:xfrm>
            <a:off x="667265" y="630195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8C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23027-85FF-22D8-3D30-55664DF46A3C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50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D6EAA7-3CDC-D11E-E416-61BCCA8747C5}"/>
              </a:ext>
            </a:extLst>
          </p:cNvPr>
          <p:cNvSpPr txBox="1"/>
          <p:nvPr/>
        </p:nvSpPr>
        <p:spPr>
          <a:xfrm>
            <a:off x="580768" y="778476"/>
            <a:ext cx="203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Suppl. Fig. 8A and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CD1CF-7BFD-41A7-37D9-3FD908E42B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9119" t="49692" r="20" b="-585"/>
          <a:stretch/>
        </p:blipFill>
        <p:spPr>
          <a:xfrm>
            <a:off x="2508422" y="2236571"/>
            <a:ext cx="6326659" cy="2137721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5074B-010A-F05B-1C85-329B9FE91110}"/>
              </a:ext>
            </a:extLst>
          </p:cNvPr>
          <p:cNvSpPr txBox="1"/>
          <p:nvPr/>
        </p:nvSpPr>
        <p:spPr>
          <a:xfrm>
            <a:off x="5659502" y="1990350"/>
            <a:ext cx="45881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           500    0                                  500 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757575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FAAF5A7C-9EBF-464D-E0A1-E359BC1848DD}"/>
              </a:ext>
            </a:extLst>
          </p:cNvPr>
          <p:cNvSpPr/>
          <p:nvPr/>
        </p:nvSpPr>
        <p:spPr>
          <a:xfrm flipH="1">
            <a:off x="5772526" y="1791989"/>
            <a:ext cx="1365283" cy="188752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889F5EB8-EBEC-70C2-2780-1C9E93CFAB19}"/>
              </a:ext>
            </a:extLst>
          </p:cNvPr>
          <p:cNvSpPr/>
          <p:nvPr/>
        </p:nvSpPr>
        <p:spPr>
          <a:xfrm flipH="1">
            <a:off x="7331934" y="1791989"/>
            <a:ext cx="1365283" cy="188752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1BB0D4-8643-0775-2E39-398299D422DB}"/>
              </a:ext>
            </a:extLst>
          </p:cNvPr>
          <p:cNvCxnSpPr>
            <a:cxnSpLocks/>
          </p:cNvCxnSpPr>
          <p:nvPr/>
        </p:nvCxnSpPr>
        <p:spPr>
          <a:xfrm>
            <a:off x="5760231" y="1622655"/>
            <a:ext cx="137757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5DE3B-5551-F1A2-A0DF-81842311A74F}"/>
              </a:ext>
            </a:extLst>
          </p:cNvPr>
          <p:cNvCxnSpPr>
            <a:cxnSpLocks/>
          </p:cNvCxnSpPr>
          <p:nvPr/>
        </p:nvCxnSpPr>
        <p:spPr>
          <a:xfrm>
            <a:off x="7319639" y="1622655"/>
            <a:ext cx="137757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D3DA45F-1801-0E3A-22D2-56D71E3B679B}"/>
              </a:ext>
            </a:extLst>
          </p:cNvPr>
          <p:cNvSpPr txBox="1"/>
          <p:nvPr/>
        </p:nvSpPr>
        <p:spPr>
          <a:xfrm>
            <a:off x="5992781" y="1312941"/>
            <a:ext cx="5052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ea typeface="Arial" charset="0"/>
                <a:cs typeface="Arial" charset="0"/>
              </a:rPr>
              <a:t>10 </a:t>
            </a:r>
            <a:r>
              <a:rPr lang="en-US" sz="800" dirty="0" err="1">
                <a:latin typeface="Helvetica" pitchFamily="2" charset="0"/>
                <a:ea typeface="Arial" charset="0"/>
                <a:cs typeface="Arial" charset="0"/>
              </a:rPr>
              <a:t>mer</a:t>
            </a:r>
            <a:endParaRPr lang="en-US" sz="800" dirty="0">
              <a:latin typeface="Helvetica" pitchFamily="2" charset="0"/>
              <a:ea typeface="Arial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B2C48-225A-E571-584E-8B708584FAF7}"/>
              </a:ext>
            </a:extLst>
          </p:cNvPr>
          <p:cNvSpPr txBox="1"/>
          <p:nvPr/>
        </p:nvSpPr>
        <p:spPr>
          <a:xfrm>
            <a:off x="6427824" y="1312941"/>
            <a:ext cx="5052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ea typeface="Arial" charset="0"/>
                <a:cs typeface="Arial" charset="0"/>
              </a:rPr>
              <a:t>13 </a:t>
            </a:r>
            <a:r>
              <a:rPr lang="en-US" sz="800" dirty="0" err="1">
                <a:latin typeface="Helvetica" pitchFamily="2" charset="0"/>
                <a:ea typeface="Arial" charset="0"/>
                <a:cs typeface="Arial" charset="0"/>
              </a:rPr>
              <a:t>mer</a:t>
            </a:r>
            <a:endParaRPr lang="en-US" sz="800" dirty="0">
              <a:latin typeface="Helvetica" pitchFamily="2" charset="0"/>
              <a:ea typeface="Arial" charset="0"/>
              <a:cs typeface="Arial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E9848-F1BA-9E76-8122-70EEAEEC5FEE}"/>
              </a:ext>
            </a:extLst>
          </p:cNvPr>
          <p:cNvSpPr txBox="1"/>
          <p:nvPr/>
        </p:nvSpPr>
        <p:spPr>
          <a:xfrm>
            <a:off x="6074248" y="1111045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  <a:ea typeface="Arial" charset="0"/>
                <a:cs typeface="Arial" charset="0"/>
              </a:rPr>
              <a:t>RNA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A347E9-80DC-EB2E-0D51-27766D32D59A}"/>
              </a:ext>
            </a:extLst>
          </p:cNvPr>
          <p:cNvSpPr txBox="1"/>
          <p:nvPr/>
        </p:nvSpPr>
        <p:spPr>
          <a:xfrm>
            <a:off x="6477764" y="1111045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37201"/>
                </a:solidFill>
                <a:latin typeface="Helvetica" pitchFamily="2" charset="0"/>
                <a:ea typeface="Arial" charset="0"/>
                <a:cs typeface="Arial" charset="0"/>
              </a:rPr>
              <a:t>DNA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22231F-3B34-A5E9-F3E8-5611AE26B42E}"/>
              </a:ext>
            </a:extLst>
          </p:cNvPr>
          <p:cNvSpPr txBox="1"/>
          <p:nvPr/>
        </p:nvSpPr>
        <p:spPr>
          <a:xfrm>
            <a:off x="7468970" y="839099"/>
            <a:ext cx="12538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ea typeface="Arial" charset="0"/>
                <a:cs typeface="Arial" charset="0"/>
              </a:rPr>
              <a:t>‘Okazaki-like’ fragment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133F8B-CE8A-CFBA-929F-DC45617C8F2D}"/>
              </a:ext>
            </a:extLst>
          </p:cNvPr>
          <p:cNvGrpSpPr/>
          <p:nvPr/>
        </p:nvGrpSpPr>
        <p:grpSpPr>
          <a:xfrm>
            <a:off x="5841682" y="1221142"/>
            <a:ext cx="594715" cy="215444"/>
            <a:chOff x="2504372" y="1465698"/>
            <a:chExt cx="594715" cy="21544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164B42-764B-A1B0-A0DE-6F2FBB3CAAA5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68007"/>
              <a:ext cx="381445" cy="0"/>
            </a:xfrm>
            <a:prstGeom prst="line">
              <a:avLst/>
            </a:prstGeom>
            <a:ln w="19050">
              <a:solidFill>
                <a:srgbClr val="FF4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685F63E-2985-602A-9641-7D0D6E99C1E9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F367DA-E9B1-7BE1-34F5-536F42F899C2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9EAD2B-113A-BC78-0A29-BA0B54D3239E}"/>
              </a:ext>
            </a:extLst>
          </p:cNvPr>
          <p:cNvCxnSpPr>
            <a:cxnSpLocks/>
          </p:cNvCxnSpPr>
          <p:nvPr/>
        </p:nvCxnSpPr>
        <p:spPr>
          <a:xfrm>
            <a:off x="6436397" y="1327007"/>
            <a:ext cx="437990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7D3C88-474E-1148-1944-4151731710EA}"/>
              </a:ext>
            </a:extLst>
          </p:cNvPr>
          <p:cNvGrpSpPr/>
          <p:nvPr/>
        </p:nvGrpSpPr>
        <p:grpSpPr>
          <a:xfrm>
            <a:off x="7432457" y="1031410"/>
            <a:ext cx="594715" cy="215444"/>
            <a:chOff x="2504372" y="1465698"/>
            <a:chExt cx="594715" cy="21544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4E7A404-C803-DD42-5763-FB8BE2E5CD00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381445" cy="0"/>
            </a:xfrm>
            <a:prstGeom prst="line">
              <a:avLst/>
            </a:prstGeom>
            <a:ln w="19050">
              <a:solidFill>
                <a:srgbClr val="FF4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A95242-C5BF-0B41-EFC7-1D65EBBB79E2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AF4D2C4-370C-50DF-E362-E616C8DB4225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7CF3E2-F2E2-7440-4871-0E43F67AE118}"/>
              </a:ext>
            </a:extLst>
          </p:cNvPr>
          <p:cNvCxnSpPr>
            <a:cxnSpLocks/>
          </p:cNvCxnSpPr>
          <p:nvPr/>
        </p:nvCxnSpPr>
        <p:spPr>
          <a:xfrm>
            <a:off x="8027172" y="1141561"/>
            <a:ext cx="437990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DB91E7-9CD4-67AA-03DE-71572E854F3B}"/>
              </a:ext>
            </a:extLst>
          </p:cNvPr>
          <p:cNvCxnSpPr>
            <a:cxnSpLocks/>
          </p:cNvCxnSpPr>
          <p:nvPr/>
        </p:nvCxnSpPr>
        <p:spPr>
          <a:xfrm flipV="1">
            <a:off x="7645727" y="1303265"/>
            <a:ext cx="819435" cy="1395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D4B614-7654-B26B-53F3-4F75AE89AFDB}"/>
              </a:ext>
            </a:extLst>
          </p:cNvPr>
          <p:cNvCxnSpPr>
            <a:cxnSpLocks/>
          </p:cNvCxnSpPr>
          <p:nvPr/>
        </p:nvCxnSpPr>
        <p:spPr>
          <a:xfrm flipV="1">
            <a:off x="7425582" y="1304660"/>
            <a:ext cx="226256" cy="172388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9FBE49-0043-8EF3-D049-8A236B90FD2F}"/>
              </a:ext>
            </a:extLst>
          </p:cNvPr>
          <p:cNvSpPr txBox="1"/>
          <p:nvPr/>
        </p:nvSpPr>
        <p:spPr>
          <a:xfrm>
            <a:off x="2549694" y="2005455"/>
            <a:ext cx="3288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0                                500    0                                  500  </a:t>
            </a:r>
            <a:endParaRPr lang="en-US" sz="1000" dirty="0">
              <a:solidFill>
                <a:srgbClr val="757575"/>
              </a:solidFill>
              <a:latin typeface="Helvetica" pitchFamily="2" charset="0"/>
            </a:endParaRPr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676CE4DD-B89C-1CAA-0CBC-E57AF858552E}"/>
              </a:ext>
            </a:extLst>
          </p:cNvPr>
          <p:cNvSpPr/>
          <p:nvPr/>
        </p:nvSpPr>
        <p:spPr>
          <a:xfrm flipH="1">
            <a:off x="2662718" y="1819451"/>
            <a:ext cx="1365283" cy="188752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81F2CC64-B53F-83AD-9C3A-9DCF5C5D30FA}"/>
              </a:ext>
            </a:extLst>
          </p:cNvPr>
          <p:cNvSpPr/>
          <p:nvPr/>
        </p:nvSpPr>
        <p:spPr>
          <a:xfrm flipH="1">
            <a:off x="4222126" y="1819451"/>
            <a:ext cx="1365283" cy="188752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3812E45-C398-7687-8387-11EA03E9939B}"/>
              </a:ext>
            </a:extLst>
          </p:cNvPr>
          <p:cNvCxnSpPr>
            <a:cxnSpLocks/>
          </p:cNvCxnSpPr>
          <p:nvPr/>
        </p:nvCxnSpPr>
        <p:spPr>
          <a:xfrm>
            <a:off x="2650423" y="1636865"/>
            <a:ext cx="137757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D7F529-329D-9BA1-918B-1BB6B794A8A1}"/>
              </a:ext>
            </a:extLst>
          </p:cNvPr>
          <p:cNvCxnSpPr>
            <a:cxnSpLocks/>
          </p:cNvCxnSpPr>
          <p:nvPr/>
        </p:nvCxnSpPr>
        <p:spPr>
          <a:xfrm>
            <a:off x="4209831" y="1636865"/>
            <a:ext cx="137757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AC569FE-1ABE-1601-5478-6A7DAC7F36F1}"/>
              </a:ext>
            </a:extLst>
          </p:cNvPr>
          <p:cNvGrpSpPr/>
          <p:nvPr/>
        </p:nvGrpSpPr>
        <p:grpSpPr>
          <a:xfrm>
            <a:off x="2649524" y="975783"/>
            <a:ext cx="1416622" cy="505118"/>
            <a:chOff x="2504372" y="1176024"/>
            <a:chExt cx="1416622" cy="50511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289FF50-2308-1BD6-0202-E4302F238183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778163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6013F44-EE12-AFAB-AED9-423B42EB9D14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701C78E-E3D8-C4EE-45CD-CAAB6E56A84D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B455280-FFB1-651E-4EA8-379EF072124F}"/>
                </a:ext>
              </a:extLst>
            </p:cNvPr>
            <p:cNvSpPr txBox="1"/>
            <p:nvPr/>
          </p:nvSpPr>
          <p:spPr>
            <a:xfrm>
              <a:off x="2564532" y="1176024"/>
              <a:ext cx="13564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Embedded ribonucleotide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05AF40-93F8-E452-CF36-C6D913EF7957}"/>
              </a:ext>
            </a:extLst>
          </p:cNvPr>
          <p:cNvCxnSpPr>
            <a:cxnSpLocks/>
          </p:cNvCxnSpPr>
          <p:nvPr/>
        </p:nvCxnSpPr>
        <p:spPr>
          <a:xfrm>
            <a:off x="3740577" y="1379195"/>
            <a:ext cx="200051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88C04EA-FE7C-2C91-AC2B-AA72D3CD91A6}"/>
              </a:ext>
            </a:extLst>
          </p:cNvPr>
          <p:cNvSpPr txBox="1"/>
          <p:nvPr/>
        </p:nvSpPr>
        <p:spPr>
          <a:xfrm>
            <a:off x="3555954" y="1247182"/>
            <a:ext cx="2776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FF40FF"/>
                </a:solidFill>
                <a:latin typeface="Helvetica" pitchFamily="2" charset="0"/>
              </a:rPr>
              <a:t>A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DA726-37AC-E114-B66E-A64309B11AF4}"/>
              </a:ext>
            </a:extLst>
          </p:cNvPr>
          <p:cNvGrpSpPr/>
          <p:nvPr/>
        </p:nvGrpSpPr>
        <p:grpSpPr>
          <a:xfrm>
            <a:off x="4125251" y="977152"/>
            <a:ext cx="1416622" cy="505118"/>
            <a:chOff x="2504372" y="1176024"/>
            <a:chExt cx="1416622" cy="50511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964D5FF-3FBA-7C9A-0F9E-F5535ED74214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778163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731D8D-60C4-156B-1ECD-B6678E8818C8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C75D9F7-131B-6620-671E-C4B831B38677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3D6CADA-D472-A801-8EFE-B7CC97426199}"/>
                </a:ext>
              </a:extLst>
            </p:cNvPr>
            <p:cNvSpPr txBox="1"/>
            <p:nvPr/>
          </p:nvSpPr>
          <p:spPr>
            <a:xfrm>
              <a:off x="2564532" y="1176024"/>
              <a:ext cx="13564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Embedded ribonucleotide</a:t>
              </a:r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DD941-F932-3F8C-D0CA-2C9F51A6C710}"/>
              </a:ext>
            </a:extLst>
          </p:cNvPr>
          <p:cNvCxnSpPr>
            <a:cxnSpLocks/>
          </p:cNvCxnSpPr>
          <p:nvPr/>
        </p:nvCxnSpPr>
        <p:spPr>
          <a:xfrm>
            <a:off x="5216304" y="1380564"/>
            <a:ext cx="200051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2184D23-FAE7-D071-8797-94BD8148942B}"/>
              </a:ext>
            </a:extLst>
          </p:cNvPr>
          <p:cNvSpPr txBox="1"/>
          <p:nvPr/>
        </p:nvSpPr>
        <p:spPr>
          <a:xfrm>
            <a:off x="5031681" y="1248551"/>
            <a:ext cx="2776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FF40FF"/>
                </a:solidFill>
                <a:latin typeface="Helvetica" pitchFamily="2" charset="0"/>
              </a:rPr>
              <a:t>A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787FAB5-467D-3803-8E8B-568F4331D32F}"/>
              </a:ext>
            </a:extLst>
          </p:cNvPr>
          <p:cNvCxnSpPr>
            <a:cxnSpLocks/>
          </p:cNvCxnSpPr>
          <p:nvPr/>
        </p:nvCxnSpPr>
        <p:spPr>
          <a:xfrm>
            <a:off x="4344537" y="1494959"/>
            <a:ext cx="1077834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319FD0D-5631-CC0B-ACF5-7168E4525597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0771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397</Words>
  <Application>Microsoft Macintosh PowerPoint</Application>
  <PresentationFormat>Widescreen</PresentationFormat>
  <Paragraphs>132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Helvetica</vt:lpstr>
      <vt:lpstr>Office Theme</vt:lpstr>
      <vt:lpstr>Nuclease Assays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Nuclease Assays</dc:title>
  <dc:creator>Sanja Brolih</dc:creator>
  <cp:lastModifiedBy>Sanja Brolih</cp:lastModifiedBy>
  <cp:revision>4</cp:revision>
  <dcterms:created xsi:type="dcterms:W3CDTF">2026-02-23T11:42:06Z</dcterms:created>
  <dcterms:modified xsi:type="dcterms:W3CDTF">2026-02-23T16:12:05Z</dcterms:modified>
</cp:coreProperties>
</file>