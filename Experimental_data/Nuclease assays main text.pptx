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352" r:id="rId3"/>
    <p:sldId id="350" r:id="rId4"/>
    <p:sldId id="344" r:id="rId5"/>
    <p:sldId id="343" r:id="rId6"/>
    <p:sldId id="351" r:id="rId7"/>
    <p:sldId id="345" r:id="rId8"/>
    <p:sldId id="346" r:id="rId9"/>
    <p:sldId id="347" r:id="rId10"/>
    <p:sldId id="34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781"/>
  </p:normalViewPr>
  <p:slideViewPr>
    <p:cSldViewPr snapToGrid="0">
      <p:cViewPr varScale="1">
        <p:scale>
          <a:sx n="111" d="100"/>
          <a:sy n="111" d="100"/>
        </p:scale>
        <p:origin x="6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9A7FD-E522-2D6F-02CE-06909C578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4DFFB-997F-CE71-D648-9C2259E27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D3444-8ECC-EF5D-E8EE-2869251FB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D4CF-7768-A740-8CE8-9D1D307E0441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958EB-9621-6674-B3FC-3527B8488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08D94-2E3E-5F6A-BE01-9330A51C9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11044-2471-B647-8D8C-23883ADE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9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EB9AF-8A50-0BD4-607F-C63CB0AD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E3F74-20B1-1D96-1E9A-9474D3F5A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7CAC7-F8B9-5EE7-D8AF-67A48671E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D4CF-7768-A740-8CE8-9D1D307E0441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41729-A082-EE04-AEA2-41BADD49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EEDC0-7D05-E075-DF49-9F028169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11044-2471-B647-8D8C-23883ADE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37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22A4-5111-87B6-F572-40C420728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49D0F-031D-D559-2A34-C8D04C511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4131A-2FBF-452E-F5D0-0FFABE9BB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D4CF-7768-A740-8CE8-9D1D307E0441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3F746-989F-F5DC-4CC5-2AD11E07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DDCCC-9CDC-7A56-4C6E-71C8E72F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11044-2471-B647-8D8C-23883ADE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75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E2108-7FB8-3A6F-4ED9-CCDB6CE20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8FA45-716B-CD4A-B6C1-5BF36E6D56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FFD310-5481-8708-A26A-AD200AD9E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AF2F7-F8A2-BA6D-2355-3CE6476D1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D4CF-7768-A740-8CE8-9D1D307E0441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8E605-DF91-E40A-CD1D-D7A7F8107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E2003-EEC4-204A-6217-0BAD29B0B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11044-2471-B647-8D8C-23883ADE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3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889F-B100-CCA2-BD7C-E057EE27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A23C0-831B-C8BB-3925-58FB68FF8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723FA-7C5C-9149-D677-FBF6F7D75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9A931D-CF45-DCCD-B44A-503A2017AA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9D4774-F2A0-BEEC-B7C3-05BF3A200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8D42D9-D42F-9237-BA00-09C050B9E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D4CF-7768-A740-8CE8-9D1D307E0441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F7B815-9C79-9123-4BDB-F048E6E3A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D08939-FC0D-BD58-48F7-1D0E8460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11044-2471-B647-8D8C-23883ADE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749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C9AC5-1C71-45B6-879C-D9FDA635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3D68E-8349-1B32-78EE-CFD6E43A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D4CF-7768-A740-8CE8-9D1D307E0441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D73E95-EE76-1A62-EE4E-13D0A6937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5B74C-CAC9-1CB1-B303-4577AB4AE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11044-2471-B647-8D8C-23883ADE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4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054CA8-EF41-8377-31B4-6317A84DB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D4CF-7768-A740-8CE8-9D1D307E0441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EDC448-DC8E-A33C-4FBC-150424D08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95E7E-CE51-8CBD-31AF-47BEE7AF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11044-2471-B647-8D8C-23883ADE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17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0C8A9-AACA-AF6F-FB68-CBC0E2494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D458D-B3E7-615F-1F0D-F89A449F5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0879E5-472E-1295-A59D-8BE141130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BC246-2900-703F-4DB5-64364EF05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D4CF-7768-A740-8CE8-9D1D307E0441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DC54C-CA09-1A51-F205-FAE0ADA2C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1778E-4306-D45A-24DE-82561245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11044-2471-B647-8D8C-23883ADE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69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1A59-0009-3816-53B7-6A628AF9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5ED7E4-A45A-5B9D-1C5D-CA7C29D6E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5CFD0-6CD9-9FA1-C26B-ABC602E2F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4BF26-4AAF-BF8D-7C27-C0BAEAEBE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D4CF-7768-A740-8CE8-9D1D307E0441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A0617-9A0E-1D12-DA1F-2B722CCD2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35631-4EA7-7274-D049-2F44C2E0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11044-2471-B647-8D8C-23883ADE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59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2ECDA-1F63-5B07-F211-7E6F118F9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F3982A-7940-3790-78A0-D657CAE1B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B46EF-A822-D14C-BC1C-052DE630F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D4CF-7768-A740-8CE8-9D1D307E0441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5544E-9511-4822-5A64-2DE170D3D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EBCFA-B786-1476-93B5-6EBE461E0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11044-2471-B647-8D8C-23883ADE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8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1D3359-9BF8-71B4-CAA2-AC29036A0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54C9C-248B-A8CE-CC62-ECED6D74D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11548-0ABF-27C6-E041-600D6A2B2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D4CF-7768-A740-8CE8-9D1D307E0441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049A0-206E-0971-D60B-CFA2CAE7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BE3CE-0AC1-B916-E6A9-D7B72248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11044-2471-B647-8D8C-23883ADE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23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549ED-100F-EA6D-CA64-0BF3B178A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3223E-E0AA-8E56-73CB-50F76425A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5C4BC-47F1-B028-522E-D247481BE0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BD4CF-7768-A740-8CE8-9D1D307E0441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69AA7-35A1-1BC1-DA9E-2C9AFBEC6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87576-C9BB-5458-0C4E-CA783E006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11044-2471-B647-8D8C-23883ADE2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77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A80B4-C927-C117-6D39-7690F8BB31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Nuclease Assays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9AACC-1477-183F-1F1E-72D6281B05BA}"/>
              </a:ext>
            </a:extLst>
          </p:cNvPr>
          <p:cNvSpPr txBox="1"/>
          <p:nvPr/>
        </p:nvSpPr>
        <p:spPr>
          <a:xfrm>
            <a:off x="5405377" y="3509963"/>
            <a:ext cx="1083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 text</a:t>
            </a:r>
          </a:p>
        </p:txBody>
      </p:sp>
    </p:spTree>
    <p:extLst>
      <p:ext uri="{BB962C8B-B14F-4D97-AF65-F5344CB8AC3E}">
        <p14:creationId xmlns:p14="http://schemas.microsoft.com/office/powerpoint/2010/main" val="33473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06F818-A0A9-75A4-57EC-0E4B4BD81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23625" y="2346837"/>
            <a:ext cx="5535024" cy="25993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30FD05-CC28-575C-3C5B-9AF05DF41940}"/>
              </a:ext>
            </a:extLst>
          </p:cNvPr>
          <p:cNvSpPr txBox="1"/>
          <p:nvPr/>
        </p:nvSpPr>
        <p:spPr>
          <a:xfrm>
            <a:off x="3465693" y="1984806"/>
            <a:ext cx="6300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                    500    0                   500   0                    500   0                   500   0                    500     nM </a:t>
            </a:r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</a:t>
            </a:r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C9297099-CF30-EA35-1E06-8E433F66F04B}"/>
              </a:ext>
            </a:extLst>
          </p:cNvPr>
          <p:cNvSpPr/>
          <p:nvPr/>
        </p:nvSpPr>
        <p:spPr>
          <a:xfrm flipH="1">
            <a:off x="3553099" y="1833425"/>
            <a:ext cx="943124" cy="149112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76F636B3-05C7-0D09-6154-1ADABD5A7C50}"/>
              </a:ext>
            </a:extLst>
          </p:cNvPr>
          <p:cNvSpPr/>
          <p:nvPr/>
        </p:nvSpPr>
        <p:spPr>
          <a:xfrm flipH="1">
            <a:off x="4646793" y="1833425"/>
            <a:ext cx="943124" cy="149112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3732249F-650F-DBB1-057A-954F68D86065}"/>
              </a:ext>
            </a:extLst>
          </p:cNvPr>
          <p:cNvSpPr/>
          <p:nvPr/>
        </p:nvSpPr>
        <p:spPr>
          <a:xfrm flipH="1">
            <a:off x="5697495" y="1833425"/>
            <a:ext cx="943124" cy="149112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DCE1B416-EBCE-67BF-1970-5410D1509D5D}"/>
              </a:ext>
            </a:extLst>
          </p:cNvPr>
          <p:cNvSpPr/>
          <p:nvPr/>
        </p:nvSpPr>
        <p:spPr>
          <a:xfrm flipH="1">
            <a:off x="6764293" y="1833425"/>
            <a:ext cx="943124" cy="149112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2093450A-C3AC-3D08-34FE-29DD6C1877AC}"/>
              </a:ext>
            </a:extLst>
          </p:cNvPr>
          <p:cNvSpPr/>
          <p:nvPr/>
        </p:nvSpPr>
        <p:spPr>
          <a:xfrm flipH="1">
            <a:off x="7812344" y="1833425"/>
            <a:ext cx="943124" cy="149112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BE9950-D6D9-EAB1-D952-7003329AB68E}"/>
              </a:ext>
            </a:extLst>
          </p:cNvPr>
          <p:cNvCxnSpPr>
            <a:cxnSpLocks/>
          </p:cNvCxnSpPr>
          <p:nvPr/>
        </p:nvCxnSpPr>
        <p:spPr>
          <a:xfrm>
            <a:off x="3553099" y="1716735"/>
            <a:ext cx="9431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9887FC-EE90-AA2C-E221-3CE9BB54B1AE}"/>
              </a:ext>
            </a:extLst>
          </p:cNvPr>
          <p:cNvCxnSpPr>
            <a:cxnSpLocks/>
          </p:cNvCxnSpPr>
          <p:nvPr/>
        </p:nvCxnSpPr>
        <p:spPr>
          <a:xfrm>
            <a:off x="4646793" y="1716735"/>
            <a:ext cx="9431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E29B09-8E8F-C597-3E48-A83B7F8B9B03}"/>
              </a:ext>
            </a:extLst>
          </p:cNvPr>
          <p:cNvCxnSpPr>
            <a:cxnSpLocks/>
          </p:cNvCxnSpPr>
          <p:nvPr/>
        </p:nvCxnSpPr>
        <p:spPr>
          <a:xfrm>
            <a:off x="5697495" y="1716735"/>
            <a:ext cx="9431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1B3722-8FB5-DEBA-1EA9-A0637356F777}"/>
              </a:ext>
            </a:extLst>
          </p:cNvPr>
          <p:cNvCxnSpPr>
            <a:cxnSpLocks/>
          </p:cNvCxnSpPr>
          <p:nvPr/>
        </p:nvCxnSpPr>
        <p:spPr>
          <a:xfrm>
            <a:off x="6754413" y="1716735"/>
            <a:ext cx="9431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E61B4F-BFC6-03ED-60CE-4419C3E11EF8}"/>
              </a:ext>
            </a:extLst>
          </p:cNvPr>
          <p:cNvCxnSpPr>
            <a:cxnSpLocks/>
          </p:cNvCxnSpPr>
          <p:nvPr/>
        </p:nvCxnSpPr>
        <p:spPr>
          <a:xfrm>
            <a:off x="7812344" y="1716735"/>
            <a:ext cx="94312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23C971A-4919-906E-662F-700B2DB37118}"/>
              </a:ext>
            </a:extLst>
          </p:cNvPr>
          <p:cNvCxnSpPr>
            <a:cxnSpLocks/>
          </p:cNvCxnSpPr>
          <p:nvPr/>
        </p:nvCxnSpPr>
        <p:spPr>
          <a:xfrm>
            <a:off x="5803187" y="1364378"/>
            <a:ext cx="778163" cy="0"/>
          </a:xfrm>
          <a:prstGeom prst="line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9E9DFEB-E44E-1E54-ED74-6F6D2D8851FF}"/>
              </a:ext>
            </a:extLst>
          </p:cNvPr>
          <p:cNvSpPr/>
          <p:nvPr/>
        </p:nvSpPr>
        <p:spPr>
          <a:xfrm>
            <a:off x="5793083" y="1338543"/>
            <a:ext cx="46180" cy="4571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F5281C-3C32-770C-E286-1810471A4A26}"/>
              </a:ext>
            </a:extLst>
          </p:cNvPr>
          <p:cNvSpPr txBox="1"/>
          <p:nvPr/>
        </p:nvSpPr>
        <p:spPr>
          <a:xfrm>
            <a:off x="5589917" y="1253680"/>
            <a:ext cx="2648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5’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18BF96-B5BD-BEFD-14E2-E64EDF8FECF9}"/>
              </a:ext>
            </a:extLst>
          </p:cNvPr>
          <p:cNvSpPr txBox="1"/>
          <p:nvPr/>
        </p:nvSpPr>
        <p:spPr>
          <a:xfrm>
            <a:off x="5940436" y="1090590"/>
            <a:ext cx="503664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40FF"/>
                </a:solidFill>
                <a:latin typeface="Helvetica" pitchFamily="2" charset="0"/>
              </a:rPr>
              <a:t>ssRNA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45CB91D-DBA0-5F0F-E6CB-89E8D6EB7082}"/>
              </a:ext>
            </a:extLst>
          </p:cNvPr>
          <p:cNvCxnSpPr>
            <a:cxnSpLocks/>
          </p:cNvCxnSpPr>
          <p:nvPr/>
        </p:nvCxnSpPr>
        <p:spPr>
          <a:xfrm>
            <a:off x="3678963" y="1364378"/>
            <a:ext cx="778163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5868D6E-85B1-A20E-F9A4-5ED35A30190D}"/>
              </a:ext>
            </a:extLst>
          </p:cNvPr>
          <p:cNvSpPr/>
          <p:nvPr/>
        </p:nvSpPr>
        <p:spPr>
          <a:xfrm>
            <a:off x="3668859" y="1338543"/>
            <a:ext cx="46180" cy="4571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3FFC2E-BFFD-6DD8-F2EC-BCC8066D7D81}"/>
              </a:ext>
            </a:extLst>
          </p:cNvPr>
          <p:cNvSpPr txBox="1"/>
          <p:nvPr/>
        </p:nvSpPr>
        <p:spPr>
          <a:xfrm>
            <a:off x="3465693" y="1253680"/>
            <a:ext cx="2648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5’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622360-031A-0CB0-354E-F66A528ED7E8}"/>
              </a:ext>
            </a:extLst>
          </p:cNvPr>
          <p:cNvSpPr txBox="1"/>
          <p:nvPr/>
        </p:nvSpPr>
        <p:spPr>
          <a:xfrm>
            <a:off x="3816212" y="1090590"/>
            <a:ext cx="503664" cy="21544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2"/>
                </a:solidFill>
                <a:latin typeface="Helvetica" pitchFamily="2" charset="0"/>
              </a:rPr>
              <a:t>ssDNA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87923B5-7FA8-2BB8-BB0D-5FC9B9AFC1CE}"/>
              </a:ext>
            </a:extLst>
          </p:cNvPr>
          <p:cNvCxnSpPr>
            <a:cxnSpLocks/>
          </p:cNvCxnSpPr>
          <p:nvPr/>
        </p:nvCxnSpPr>
        <p:spPr>
          <a:xfrm>
            <a:off x="4756099" y="1364378"/>
            <a:ext cx="778163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47E38FD-04EE-D2E1-F688-2259348EB105}"/>
              </a:ext>
            </a:extLst>
          </p:cNvPr>
          <p:cNvSpPr/>
          <p:nvPr/>
        </p:nvSpPr>
        <p:spPr>
          <a:xfrm>
            <a:off x="4745995" y="1338543"/>
            <a:ext cx="46180" cy="4571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8C04B7-8FCA-6CE5-833E-AFABD6F5E5D1}"/>
              </a:ext>
            </a:extLst>
          </p:cNvPr>
          <p:cNvSpPr txBox="1"/>
          <p:nvPr/>
        </p:nvSpPr>
        <p:spPr>
          <a:xfrm>
            <a:off x="4542829" y="1253680"/>
            <a:ext cx="2648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5’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49808D-D8F2-EB0D-DA75-0340FAFD431F}"/>
              </a:ext>
            </a:extLst>
          </p:cNvPr>
          <p:cNvSpPr txBox="1"/>
          <p:nvPr/>
        </p:nvSpPr>
        <p:spPr>
          <a:xfrm>
            <a:off x="4893348" y="1090590"/>
            <a:ext cx="5100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2"/>
                </a:solidFill>
                <a:latin typeface="Helvetica" pitchFamily="2" charset="0"/>
              </a:rPr>
              <a:t>dsDNA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864C5CB-2531-68D5-0D98-3A224252FEA8}"/>
              </a:ext>
            </a:extLst>
          </p:cNvPr>
          <p:cNvCxnSpPr>
            <a:cxnSpLocks/>
          </p:cNvCxnSpPr>
          <p:nvPr/>
        </p:nvCxnSpPr>
        <p:spPr>
          <a:xfrm>
            <a:off x="4756099" y="1451967"/>
            <a:ext cx="778163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5E019FD-71BD-B8AA-8906-C449AF47E4A6}"/>
              </a:ext>
            </a:extLst>
          </p:cNvPr>
          <p:cNvCxnSpPr>
            <a:cxnSpLocks/>
          </p:cNvCxnSpPr>
          <p:nvPr/>
        </p:nvCxnSpPr>
        <p:spPr>
          <a:xfrm>
            <a:off x="6850275" y="1364378"/>
            <a:ext cx="778163" cy="0"/>
          </a:xfrm>
          <a:prstGeom prst="line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F56D78E4-14A9-35FA-A715-AC119F85FD0A}"/>
              </a:ext>
            </a:extLst>
          </p:cNvPr>
          <p:cNvSpPr/>
          <p:nvPr/>
        </p:nvSpPr>
        <p:spPr>
          <a:xfrm>
            <a:off x="6840171" y="1338543"/>
            <a:ext cx="46180" cy="4571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7CE509-2E67-E99B-365C-76BCF293193C}"/>
              </a:ext>
            </a:extLst>
          </p:cNvPr>
          <p:cNvSpPr txBox="1"/>
          <p:nvPr/>
        </p:nvSpPr>
        <p:spPr>
          <a:xfrm>
            <a:off x="6637005" y="1253680"/>
            <a:ext cx="2648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5’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DC5635-F202-3E8F-90CF-17D4F16FDFAA}"/>
              </a:ext>
            </a:extLst>
          </p:cNvPr>
          <p:cNvSpPr txBox="1"/>
          <p:nvPr/>
        </p:nvSpPr>
        <p:spPr>
          <a:xfrm>
            <a:off x="6987524" y="1090590"/>
            <a:ext cx="5100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40FF"/>
                </a:solidFill>
                <a:latin typeface="Helvetica" pitchFamily="2" charset="0"/>
              </a:rPr>
              <a:t>dsRNA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B6B40A1-6029-93B0-D15B-B130EBDF9C07}"/>
              </a:ext>
            </a:extLst>
          </p:cNvPr>
          <p:cNvCxnSpPr>
            <a:cxnSpLocks/>
          </p:cNvCxnSpPr>
          <p:nvPr/>
        </p:nvCxnSpPr>
        <p:spPr>
          <a:xfrm>
            <a:off x="7920687" y="1364378"/>
            <a:ext cx="778163" cy="0"/>
          </a:xfrm>
          <a:prstGeom prst="line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ECEB1AB2-2512-B385-1CB9-CA62474FF6D0}"/>
              </a:ext>
            </a:extLst>
          </p:cNvPr>
          <p:cNvSpPr/>
          <p:nvPr/>
        </p:nvSpPr>
        <p:spPr>
          <a:xfrm>
            <a:off x="7910583" y="1338543"/>
            <a:ext cx="46180" cy="4571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71692B-3DBB-5D59-ECF7-C21D9770E2E3}"/>
              </a:ext>
            </a:extLst>
          </p:cNvPr>
          <p:cNvSpPr txBox="1"/>
          <p:nvPr/>
        </p:nvSpPr>
        <p:spPr>
          <a:xfrm>
            <a:off x="7707417" y="1253680"/>
            <a:ext cx="2648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5’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E796F4-B79F-B79B-A11E-63E9A211C2F8}"/>
              </a:ext>
            </a:extLst>
          </p:cNvPr>
          <p:cNvSpPr txBox="1"/>
          <p:nvPr/>
        </p:nvSpPr>
        <p:spPr>
          <a:xfrm>
            <a:off x="8003186" y="1090590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40FF"/>
                </a:solidFill>
                <a:latin typeface="Helvetica" pitchFamily="2" charset="0"/>
              </a:rPr>
              <a:t>RNA*-</a:t>
            </a:r>
            <a:r>
              <a:rPr lang="en-US" sz="800" dirty="0">
                <a:solidFill>
                  <a:schemeClr val="accent2"/>
                </a:solidFill>
                <a:latin typeface="Helvetica" pitchFamily="2" charset="0"/>
              </a:rPr>
              <a:t>DNA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4226654-8C48-EDB7-EE5E-E21C5F2B5AB5}"/>
              </a:ext>
            </a:extLst>
          </p:cNvPr>
          <p:cNvCxnSpPr>
            <a:cxnSpLocks/>
          </p:cNvCxnSpPr>
          <p:nvPr/>
        </p:nvCxnSpPr>
        <p:spPr>
          <a:xfrm>
            <a:off x="6850275" y="1451967"/>
            <a:ext cx="778163" cy="0"/>
          </a:xfrm>
          <a:prstGeom prst="line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57CD563-EEC5-5DAA-D603-A5F835AF3AF2}"/>
              </a:ext>
            </a:extLst>
          </p:cNvPr>
          <p:cNvCxnSpPr>
            <a:cxnSpLocks/>
          </p:cNvCxnSpPr>
          <p:nvPr/>
        </p:nvCxnSpPr>
        <p:spPr>
          <a:xfrm>
            <a:off x="7920687" y="1451967"/>
            <a:ext cx="778163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A74921F-2722-38F7-5365-CBFD9AFCB68F}"/>
              </a:ext>
            </a:extLst>
          </p:cNvPr>
          <p:cNvSpPr txBox="1"/>
          <p:nvPr/>
        </p:nvSpPr>
        <p:spPr>
          <a:xfrm>
            <a:off x="345989" y="42013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2A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619E13-BFED-154C-0F25-D282D9F26579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6685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A4F319-2D9C-735B-0C58-6B222B0082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 contrast="-10000"/>
                    </a14:imgEffect>
                  </a14:imgLayer>
                </a14:imgProps>
              </a:ext>
            </a:extLst>
          </a:blip>
          <a:srcRect l="-5461" t="-6972" r="-3566" b="-22986"/>
          <a:stretch/>
        </p:blipFill>
        <p:spPr>
          <a:xfrm>
            <a:off x="2834591" y="2464897"/>
            <a:ext cx="5638429" cy="2613729"/>
          </a:xfrm>
          <a:prstGeom prst="rect">
            <a:avLst/>
          </a:prstGeom>
          <a:ln w="9525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E4F84E-1835-55B7-5768-55BBB4FFFD50}"/>
              </a:ext>
            </a:extLst>
          </p:cNvPr>
          <p:cNvSpPr txBox="1"/>
          <p:nvPr/>
        </p:nvSpPr>
        <p:spPr>
          <a:xfrm>
            <a:off x="3151547" y="2289179"/>
            <a:ext cx="56252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                        500    0                         500    0                         500   0                          500    nM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D8BF1768-044B-FD95-E754-5406309E36ED}"/>
              </a:ext>
            </a:extLst>
          </p:cNvPr>
          <p:cNvSpPr/>
          <p:nvPr/>
        </p:nvSpPr>
        <p:spPr>
          <a:xfrm flipH="1">
            <a:off x="3201353" y="2130752"/>
            <a:ext cx="1147204" cy="149111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012BD8E-1AE4-6DC3-5506-9709EF55ECA4}"/>
              </a:ext>
            </a:extLst>
          </p:cNvPr>
          <p:cNvCxnSpPr>
            <a:cxnSpLocks/>
          </p:cNvCxnSpPr>
          <p:nvPr/>
        </p:nvCxnSpPr>
        <p:spPr>
          <a:xfrm>
            <a:off x="3201353" y="1967373"/>
            <a:ext cx="114720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C6DCEAC7-58AE-6A7F-8365-C1CD3A874586}"/>
              </a:ext>
            </a:extLst>
          </p:cNvPr>
          <p:cNvGrpSpPr/>
          <p:nvPr/>
        </p:nvGrpSpPr>
        <p:grpSpPr>
          <a:xfrm>
            <a:off x="3852840" y="1078315"/>
            <a:ext cx="991433" cy="378534"/>
            <a:chOff x="2504372" y="1302608"/>
            <a:chExt cx="991433" cy="37853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C53587D-BA41-FFC1-D6FD-09B3453C9D3C}"/>
                </a:ext>
              </a:extLst>
            </p:cNvPr>
            <p:cNvCxnSpPr>
              <a:cxnSpLocks/>
            </p:cNvCxnSpPr>
            <p:nvPr/>
          </p:nvCxnSpPr>
          <p:spPr>
            <a:xfrm>
              <a:off x="2717642" y="1576396"/>
              <a:ext cx="778163" cy="0"/>
            </a:xfrm>
            <a:prstGeom prst="line">
              <a:avLst/>
            </a:prstGeom>
            <a:ln w="19050">
              <a:solidFill>
                <a:srgbClr val="FF4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EEC6E51-7D34-3D26-BEC2-5099053533D6}"/>
                </a:ext>
              </a:extLst>
            </p:cNvPr>
            <p:cNvSpPr/>
            <p:nvPr/>
          </p:nvSpPr>
          <p:spPr>
            <a:xfrm>
              <a:off x="2707538" y="1550561"/>
              <a:ext cx="46180" cy="45719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E323EA-E0EF-C7B3-EC20-B41591BEBFFD}"/>
                </a:ext>
              </a:extLst>
            </p:cNvPr>
            <p:cNvSpPr txBox="1"/>
            <p:nvPr/>
          </p:nvSpPr>
          <p:spPr>
            <a:xfrm>
              <a:off x="2504372" y="1465698"/>
              <a:ext cx="2648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Helvetica" pitchFamily="2" charset="0"/>
                </a:rPr>
                <a:t>5’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1F8BC2-2AFF-BB9F-056D-7FAE104F93BA}"/>
                </a:ext>
              </a:extLst>
            </p:cNvPr>
            <p:cNvSpPr txBox="1"/>
            <p:nvPr/>
          </p:nvSpPr>
          <p:spPr>
            <a:xfrm>
              <a:off x="2854891" y="1302608"/>
              <a:ext cx="50366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FF40FF"/>
                  </a:solidFill>
                  <a:latin typeface="Helvetica" pitchFamily="2" charset="0"/>
                </a:rPr>
                <a:t>ssRNA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50C2BAD-E81B-BCEB-CAA9-110E3E32BA39}"/>
              </a:ext>
            </a:extLst>
          </p:cNvPr>
          <p:cNvGrpSpPr/>
          <p:nvPr/>
        </p:nvGrpSpPr>
        <p:grpSpPr>
          <a:xfrm>
            <a:off x="6320552" y="1078315"/>
            <a:ext cx="991433" cy="378534"/>
            <a:chOff x="6407049" y="1953533"/>
            <a:chExt cx="991433" cy="37853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BB1AD10-3F5B-0D50-EA22-CC1FA50648FC}"/>
                </a:ext>
              </a:extLst>
            </p:cNvPr>
            <p:cNvGrpSpPr/>
            <p:nvPr/>
          </p:nvGrpSpPr>
          <p:grpSpPr>
            <a:xfrm>
              <a:off x="6407049" y="1953533"/>
              <a:ext cx="991433" cy="378534"/>
              <a:chOff x="2504372" y="1302608"/>
              <a:chExt cx="991433" cy="378534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CF756FF-86D2-1791-25DB-DD07AADC63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7642" y="1576396"/>
                <a:ext cx="778163" cy="0"/>
              </a:xfrm>
              <a:prstGeom prst="line">
                <a:avLst/>
              </a:prstGeom>
              <a:ln w="19050">
                <a:solidFill>
                  <a:srgbClr val="FF4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0440565-9E52-6571-2CC9-F29B9104EACC}"/>
                  </a:ext>
                </a:extLst>
              </p:cNvPr>
              <p:cNvSpPr/>
              <p:nvPr/>
            </p:nvSpPr>
            <p:spPr>
              <a:xfrm>
                <a:off x="2707538" y="1550561"/>
                <a:ext cx="46180" cy="45719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B341F8E-9614-6184-8AA9-6DD8C9FED1F6}"/>
                  </a:ext>
                </a:extLst>
              </p:cNvPr>
              <p:cNvSpPr txBox="1"/>
              <p:nvPr/>
            </p:nvSpPr>
            <p:spPr>
              <a:xfrm>
                <a:off x="2504372" y="1465698"/>
                <a:ext cx="26481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5’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461FB6-8317-F8A0-E47F-50782EF2062F}"/>
                  </a:ext>
                </a:extLst>
              </p:cNvPr>
              <p:cNvSpPr txBox="1"/>
              <p:nvPr/>
            </p:nvSpPr>
            <p:spPr>
              <a:xfrm>
                <a:off x="2800141" y="1302608"/>
                <a:ext cx="69121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rgbClr val="FF40FF"/>
                    </a:solidFill>
                    <a:latin typeface="Helvetica" pitchFamily="2" charset="0"/>
                  </a:rPr>
                  <a:t>RNA*-</a:t>
                </a:r>
                <a:r>
                  <a:rPr lang="en-US" sz="800" dirty="0">
                    <a:solidFill>
                      <a:srgbClr val="E37201"/>
                    </a:solidFill>
                    <a:latin typeface="Helvetica" pitchFamily="2" charset="0"/>
                  </a:rPr>
                  <a:t>DNA</a:t>
                </a:r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C11D913-2369-D4EA-682D-1E950B7D8722}"/>
                </a:ext>
              </a:extLst>
            </p:cNvPr>
            <p:cNvCxnSpPr>
              <a:cxnSpLocks/>
            </p:cNvCxnSpPr>
            <p:nvPr/>
          </p:nvCxnSpPr>
          <p:spPr>
            <a:xfrm>
              <a:off x="6620319" y="2314910"/>
              <a:ext cx="778163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FBD91274-E096-58B5-545D-8D8BBED04BCE}"/>
              </a:ext>
            </a:extLst>
          </p:cNvPr>
          <p:cNvSpPr/>
          <p:nvPr/>
        </p:nvSpPr>
        <p:spPr>
          <a:xfrm flipH="1">
            <a:off x="4479034" y="2130752"/>
            <a:ext cx="1147204" cy="149111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B545BFD4-141C-2BB8-525D-2879CAFBB653}"/>
              </a:ext>
            </a:extLst>
          </p:cNvPr>
          <p:cNvSpPr/>
          <p:nvPr/>
        </p:nvSpPr>
        <p:spPr>
          <a:xfrm flipH="1">
            <a:off x="5780665" y="2130752"/>
            <a:ext cx="1147204" cy="149111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A01102E5-C076-3469-C2CB-E89E82C7D41C}"/>
              </a:ext>
            </a:extLst>
          </p:cNvPr>
          <p:cNvSpPr/>
          <p:nvPr/>
        </p:nvSpPr>
        <p:spPr>
          <a:xfrm flipH="1">
            <a:off x="7058346" y="2130752"/>
            <a:ext cx="1147204" cy="149111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4B42D3-D3C4-93F2-4C2D-2C435A0BA611}"/>
              </a:ext>
            </a:extLst>
          </p:cNvPr>
          <p:cNvCxnSpPr>
            <a:cxnSpLocks/>
          </p:cNvCxnSpPr>
          <p:nvPr/>
        </p:nvCxnSpPr>
        <p:spPr>
          <a:xfrm>
            <a:off x="4482074" y="1967373"/>
            <a:ext cx="114720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723922-1CEE-E622-9B37-F12BC076E39D}"/>
              </a:ext>
            </a:extLst>
          </p:cNvPr>
          <p:cNvCxnSpPr>
            <a:cxnSpLocks/>
          </p:cNvCxnSpPr>
          <p:nvPr/>
        </p:nvCxnSpPr>
        <p:spPr>
          <a:xfrm>
            <a:off x="5780665" y="1967373"/>
            <a:ext cx="114720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B6F3203-9563-82DB-0E19-EB67567B87E6}"/>
              </a:ext>
            </a:extLst>
          </p:cNvPr>
          <p:cNvCxnSpPr>
            <a:cxnSpLocks/>
          </p:cNvCxnSpPr>
          <p:nvPr/>
        </p:nvCxnSpPr>
        <p:spPr>
          <a:xfrm>
            <a:off x="7050022" y="1967373"/>
            <a:ext cx="114720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72DACE5-3600-777A-C67F-570E81362C3D}"/>
              </a:ext>
            </a:extLst>
          </p:cNvPr>
          <p:cNvSpPr txBox="1"/>
          <p:nvPr/>
        </p:nvSpPr>
        <p:spPr>
          <a:xfrm>
            <a:off x="3490262" y="169949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0ED32E-708B-AAF6-6305-E09A6E373285}"/>
              </a:ext>
            </a:extLst>
          </p:cNvPr>
          <p:cNvSpPr txBox="1"/>
          <p:nvPr/>
        </p:nvSpPr>
        <p:spPr>
          <a:xfrm>
            <a:off x="4455191" y="1699496"/>
            <a:ext cx="12009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CDIN1-</a:t>
            </a:r>
            <a:r>
              <a:rPr lang="en-US" sz="1000" dirty="0">
                <a:solidFill>
                  <a:srgbClr val="424242"/>
                </a:solidFill>
                <a:latin typeface="Helvetica" pitchFamily="2" charset="0"/>
              </a:rPr>
              <a:t>Codanin-1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F33F45-3DAC-C137-BEC6-48B4A0C069BD}"/>
              </a:ext>
            </a:extLst>
          </p:cNvPr>
          <p:cNvSpPr txBox="1"/>
          <p:nvPr/>
        </p:nvSpPr>
        <p:spPr>
          <a:xfrm>
            <a:off x="6069574" y="169949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8B8B42-6C3F-2716-371F-A99AF6EF348C}"/>
              </a:ext>
            </a:extLst>
          </p:cNvPr>
          <p:cNvSpPr txBox="1"/>
          <p:nvPr/>
        </p:nvSpPr>
        <p:spPr>
          <a:xfrm>
            <a:off x="7023139" y="1699496"/>
            <a:ext cx="12009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CDIN1-</a:t>
            </a:r>
            <a:r>
              <a:rPr lang="en-US" sz="1000" dirty="0">
                <a:solidFill>
                  <a:srgbClr val="424242"/>
                </a:solidFill>
                <a:latin typeface="Helvetica" pitchFamily="2" charset="0"/>
              </a:rPr>
              <a:t>Codanin-1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747DB0A-C24D-CA42-451C-43ABE63E0B17}"/>
              </a:ext>
            </a:extLst>
          </p:cNvPr>
          <p:cNvCxnSpPr>
            <a:cxnSpLocks/>
          </p:cNvCxnSpPr>
          <p:nvPr/>
        </p:nvCxnSpPr>
        <p:spPr>
          <a:xfrm>
            <a:off x="3201353" y="1603378"/>
            <a:ext cx="245210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2F3E83C-D036-F6AB-6639-6F80B4732E96}"/>
              </a:ext>
            </a:extLst>
          </p:cNvPr>
          <p:cNvCxnSpPr>
            <a:cxnSpLocks/>
          </p:cNvCxnSpPr>
          <p:nvPr/>
        </p:nvCxnSpPr>
        <p:spPr>
          <a:xfrm>
            <a:off x="5780665" y="1603378"/>
            <a:ext cx="241036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36BB99A-168A-9B2F-72DD-E909503D99F1}"/>
              </a:ext>
            </a:extLst>
          </p:cNvPr>
          <p:cNvSpPr txBox="1"/>
          <p:nvPr/>
        </p:nvSpPr>
        <p:spPr>
          <a:xfrm>
            <a:off x="642551" y="778476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3D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DC9B8-719A-649F-F64C-0AD6814F349F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1651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54944-4CF4-72C7-0A9E-C2D2A96168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 contrast="-10000"/>
                    </a14:imgEffect>
                  </a14:imgLayer>
                </a14:imgProps>
              </a:ext>
            </a:extLst>
          </a:blip>
          <a:srcRect l="-14778" t="-8294" r="-6579" b="-1709"/>
          <a:stretch/>
        </p:blipFill>
        <p:spPr>
          <a:xfrm rot="5400000">
            <a:off x="5092654" y="429787"/>
            <a:ext cx="4797987" cy="7321096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4A1C56-949A-A6B8-3C06-71F16EA189C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7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318" t="39538" r="51589" b="-4791"/>
          <a:stretch/>
        </p:blipFill>
        <p:spPr>
          <a:xfrm>
            <a:off x="844953" y="2624086"/>
            <a:ext cx="2390822" cy="3865242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A31B93-BF1F-ECEC-0740-068E2C48DB66}"/>
              </a:ext>
            </a:extLst>
          </p:cNvPr>
          <p:cNvSpPr txBox="1"/>
          <p:nvPr/>
        </p:nvSpPr>
        <p:spPr>
          <a:xfrm>
            <a:off x="300789" y="368672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4A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275E45-2950-C8FF-A08F-FAD767A1E2F0}"/>
              </a:ext>
            </a:extLst>
          </p:cNvPr>
          <p:cNvSpPr txBox="1"/>
          <p:nvPr/>
        </p:nvSpPr>
        <p:spPr>
          <a:xfrm>
            <a:off x="869017" y="2352706"/>
            <a:ext cx="22653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0                    500   0                    500</a:t>
            </a: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F3A8CF80-783D-47D4-B380-B3D5609F5760}"/>
              </a:ext>
            </a:extLst>
          </p:cNvPr>
          <p:cNvSpPr/>
          <p:nvPr/>
        </p:nvSpPr>
        <p:spPr>
          <a:xfrm flipH="1">
            <a:off x="932342" y="2229012"/>
            <a:ext cx="988375" cy="126275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35DF4C5-EC21-5BC8-E8A5-C16E869FE980}"/>
              </a:ext>
            </a:extLst>
          </p:cNvPr>
          <p:cNvCxnSpPr>
            <a:cxnSpLocks/>
          </p:cNvCxnSpPr>
          <p:nvPr/>
        </p:nvCxnSpPr>
        <p:spPr>
          <a:xfrm>
            <a:off x="939228" y="2134819"/>
            <a:ext cx="9883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BD559C5-C33D-B09E-A995-DABE741AD176}"/>
              </a:ext>
            </a:extLst>
          </p:cNvPr>
          <p:cNvSpPr txBox="1"/>
          <p:nvPr/>
        </p:nvSpPr>
        <p:spPr>
          <a:xfrm>
            <a:off x="2255952" y="1859414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</a:t>
            </a:r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5905F367-022D-2A46-2F29-391E4A6C8E00}"/>
              </a:ext>
            </a:extLst>
          </p:cNvPr>
          <p:cNvSpPr/>
          <p:nvPr/>
        </p:nvSpPr>
        <p:spPr>
          <a:xfrm flipH="1">
            <a:off x="2046459" y="2229012"/>
            <a:ext cx="988375" cy="126275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F1E0A03-9A51-EB05-7952-18838523AABA}"/>
              </a:ext>
            </a:extLst>
          </p:cNvPr>
          <p:cNvCxnSpPr>
            <a:cxnSpLocks/>
          </p:cNvCxnSpPr>
          <p:nvPr/>
        </p:nvCxnSpPr>
        <p:spPr>
          <a:xfrm>
            <a:off x="2046458" y="2134819"/>
            <a:ext cx="9883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C32AF22-058F-B676-C3A8-FC0A6D057A2C}"/>
              </a:ext>
            </a:extLst>
          </p:cNvPr>
          <p:cNvSpPr txBox="1"/>
          <p:nvPr/>
        </p:nvSpPr>
        <p:spPr>
          <a:xfrm>
            <a:off x="877807" y="1703352"/>
            <a:ext cx="1160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317474"/>
                </a:solidFill>
                <a:latin typeface="Helvetica" pitchFamily="2" charset="0"/>
              </a:rPr>
              <a:t>CDIN1</a:t>
            </a:r>
            <a:r>
              <a:rPr lang="en-US" sz="1000" baseline="30000" dirty="0">
                <a:solidFill>
                  <a:srgbClr val="317474"/>
                </a:solidFill>
                <a:latin typeface="Helvetica" pitchFamily="2" charset="0"/>
              </a:rPr>
              <a:t>D196A,E214A</a:t>
            </a:r>
            <a:r>
              <a:rPr lang="en-US" sz="1000" dirty="0">
                <a:solidFill>
                  <a:srgbClr val="317474"/>
                </a:solidFill>
                <a:latin typeface="Helvetica" pitchFamily="2" charset="0"/>
              </a:rPr>
              <a:t>-</a:t>
            </a:r>
          </a:p>
          <a:p>
            <a:pPr algn="ctr"/>
            <a:r>
              <a:rPr lang="en-US" sz="1000" dirty="0">
                <a:solidFill>
                  <a:srgbClr val="424242"/>
                </a:solidFill>
                <a:latin typeface="Helvetica" pitchFamily="2" charset="0"/>
              </a:rPr>
              <a:t>Codanin-1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962E569-D82E-7AA5-569A-5FBA06E1900D}"/>
              </a:ext>
            </a:extLst>
          </p:cNvPr>
          <p:cNvGrpSpPr/>
          <p:nvPr/>
        </p:nvGrpSpPr>
        <p:grpSpPr>
          <a:xfrm>
            <a:off x="1408900" y="1053528"/>
            <a:ext cx="991433" cy="378534"/>
            <a:chOff x="6407049" y="1953533"/>
            <a:chExt cx="991433" cy="378534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CE2ED117-65D5-4095-E813-C68E58216014}"/>
                </a:ext>
              </a:extLst>
            </p:cNvPr>
            <p:cNvGrpSpPr/>
            <p:nvPr/>
          </p:nvGrpSpPr>
          <p:grpSpPr>
            <a:xfrm>
              <a:off x="6407049" y="1953533"/>
              <a:ext cx="991433" cy="378534"/>
              <a:chOff x="2504372" y="1302608"/>
              <a:chExt cx="991433" cy="378534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302BFE7-F1D8-8241-3314-7BFE9C6EDE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7642" y="1576396"/>
                <a:ext cx="778163" cy="0"/>
              </a:xfrm>
              <a:prstGeom prst="line">
                <a:avLst/>
              </a:prstGeom>
              <a:ln w="19050">
                <a:solidFill>
                  <a:srgbClr val="FF4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68E86EB-C2E6-2C76-0F10-BC881D6755F9}"/>
                  </a:ext>
                </a:extLst>
              </p:cNvPr>
              <p:cNvSpPr/>
              <p:nvPr/>
            </p:nvSpPr>
            <p:spPr>
              <a:xfrm>
                <a:off x="2707538" y="1550561"/>
                <a:ext cx="46180" cy="45719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C6A0511-04F5-CB89-9EE9-4D4756F0E422}"/>
                  </a:ext>
                </a:extLst>
              </p:cNvPr>
              <p:cNvSpPr txBox="1"/>
              <p:nvPr/>
            </p:nvSpPr>
            <p:spPr>
              <a:xfrm>
                <a:off x="2504372" y="1465698"/>
                <a:ext cx="26481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5’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DDAAB3C-848D-C15A-99F0-C31C380ECB84}"/>
                  </a:ext>
                </a:extLst>
              </p:cNvPr>
              <p:cNvSpPr txBox="1"/>
              <p:nvPr/>
            </p:nvSpPr>
            <p:spPr>
              <a:xfrm>
                <a:off x="2800141" y="1302608"/>
                <a:ext cx="69121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rgbClr val="FF40FF"/>
                    </a:solidFill>
                    <a:latin typeface="Helvetica" pitchFamily="2" charset="0"/>
                  </a:rPr>
                  <a:t>RNA*-</a:t>
                </a:r>
                <a:r>
                  <a:rPr lang="en-US" sz="800" dirty="0">
                    <a:solidFill>
                      <a:srgbClr val="E37201"/>
                    </a:solidFill>
                    <a:latin typeface="Helvetica" pitchFamily="2" charset="0"/>
                  </a:rPr>
                  <a:t>DNA</a:t>
                </a:r>
              </a:p>
            </p:txBody>
          </p:sp>
        </p:grp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287B31F-0B30-E681-1867-EA46C3FA5F9C}"/>
                </a:ext>
              </a:extLst>
            </p:cNvPr>
            <p:cNvCxnSpPr>
              <a:cxnSpLocks/>
            </p:cNvCxnSpPr>
            <p:nvPr/>
          </p:nvCxnSpPr>
          <p:spPr>
            <a:xfrm>
              <a:off x="6620319" y="2314910"/>
              <a:ext cx="778163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257D19E-120A-FD26-AC9C-3B31C635F491}"/>
              </a:ext>
            </a:extLst>
          </p:cNvPr>
          <p:cNvCxnSpPr>
            <a:cxnSpLocks/>
          </p:cNvCxnSpPr>
          <p:nvPr/>
        </p:nvCxnSpPr>
        <p:spPr>
          <a:xfrm>
            <a:off x="1340152" y="1555300"/>
            <a:ext cx="125441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8A2094A-5708-F143-0B37-0F0DEF059C53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180796-C2F1-24E5-EE6D-345EA36C8C55}"/>
              </a:ext>
            </a:extLst>
          </p:cNvPr>
          <p:cNvSpPr txBox="1"/>
          <p:nvPr/>
        </p:nvSpPr>
        <p:spPr>
          <a:xfrm>
            <a:off x="7048082" y="3513112"/>
            <a:ext cx="26548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                     500   0                      500   nM</a:t>
            </a:r>
          </a:p>
        </p:txBody>
      </p:sp>
      <p:sp>
        <p:nvSpPr>
          <p:cNvPr id="53" name="Right Triangle 52">
            <a:extLst>
              <a:ext uri="{FF2B5EF4-FFF2-40B4-BE49-F238E27FC236}">
                <a16:creationId xmlns:a16="http://schemas.microsoft.com/office/drawing/2014/main" id="{564D0977-0F7E-98BF-6400-3E64C4E7271E}"/>
              </a:ext>
            </a:extLst>
          </p:cNvPr>
          <p:cNvSpPr/>
          <p:nvPr/>
        </p:nvSpPr>
        <p:spPr>
          <a:xfrm flipH="1">
            <a:off x="7129369" y="3383631"/>
            <a:ext cx="988375" cy="126275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54" name="Right Triangle 53">
            <a:extLst>
              <a:ext uri="{FF2B5EF4-FFF2-40B4-BE49-F238E27FC236}">
                <a16:creationId xmlns:a16="http://schemas.microsoft.com/office/drawing/2014/main" id="{CBB5A743-CFBE-DCFB-F7D7-A781F30E8B47}"/>
              </a:ext>
            </a:extLst>
          </p:cNvPr>
          <p:cNvSpPr/>
          <p:nvPr/>
        </p:nvSpPr>
        <p:spPr>
          <a:xfrm flipH="1">
            <a:off x="8241746" y="3383631"/>
            <a:ext cx="988375" cy="126275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B53F176-D21A-481D-EE56-BDB90B6D5BAD}"/>
              </a:ext>
            </a:extLst>
          </p:cNvPr>
          <p:cNvCxnSpPr>
            <a:cxnSpLocks/>
          </p:cNvCxnSpPr>
          <p:nvPr/>
        </p:nvCxnSpPr>
        <p:spPr>
          <a:xfrm>
            <a:off x="7130075" y="3289438"/>
            <a:ext cx="9883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A6F3D94-E536-A0BD-03E0-F6708D9ABC75}"/>
              </a:ext>
            </a:extLst>
          </p:cNvPr>
          <p:cNvCxnSpPr>
            <a:cxnSpLocks/>
          </p:cNvCxnSpPr>
          <p:nvPr/>
        </p:nvCxnSpPr>
        <p:spPr>
          <a:xfrm>
            <a:off x="8243444" y="3289438"/>
            <a:ext cx="9883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F3369FF-7D7F-FEC6-A8A9-50CFB9593B84}"/>
              </a:ext>
            </a:extLst>
          </p:cNvPr>
          <p:cNvSpPr txBox="1"/>
          <p:nvPr/>
        </p:nvSpPr>
        <p:spPr>
          <a:xfrm>
            <a:off x="7237071" y="3016449"/>
            <a:ext cx="772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424242"/>
                </a:solidFill>
                <a:latin typeface="Helvetica" pitchFamily="2" charset="0"/>
              </a:rPr>
              <a:t>Codanin-1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5F01C02-020A-8B79-89EA-CCA4C4F11D70}"/>
              </a:ext>
            </a:extLst>
          </p:cNvPr>
          <p:cNvSpPr txBox="1"/>
          <p:nvPr/>
        </p:nvSpPr>
        <p:spPr>
          <a:xfrm>
            <a:off x="8135448" y="3022183"/>
            <a:ext cx="12009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CDIN1-</a:t>
            </a:r>
            <a:r>
              <a:rPr lang="en-US" sz="1000" dirty="0">
                <a:solidFill>
                  <a:srgbClr val="424242"/>
                </a:solidFill>
                <a:latin typeface="Helvetica" pitchFamily="2" charset="0"/>
              </a:rPr>
              <a:t>Codanin-1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D1A4C9E-8698-E038-874C-1337FDFC8DB6}"/>
              </a:ext>
            </a:extLst>
          </p:cNvPr>
          <p:cNvSpPr/>
          <p:nvPr/>
        </p:nvSpPr>
        <p:spPr>
          <a:xfrm>
            <a:off x="7018666" y="1216618"/>
            <a:ext cx="2619973" cy="52727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6E11DC4-C600-F1D4-5182-B8904343465E}"/>
              </a:ext>
            </a:extLst>
          </p:cNvPr>
          <p:cNvGrpSpPr/>
          <p:nvPr/>
        </p:nvGrpSpPr>
        <p:grpSpPr>
          <a:xfrm>
            <a:off x="7659874" y="2386544"/>
            <a:ext cx="991433" cy="378534"/>
            <a:chOff x="6407049" y="1953533"/>
            <a:chExt cx="991433" cy="378534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76B5882-B205-0E06-2BEB-22CD07936CB3}"/>
                </a:ext>
              </a:extLst>
            </p:cNvPr>
            <p:cNvGrpSpPr/>
            <p:nvPr/>
          </p:nvGrpSpPr>
          <p:grpSpPr>
            <a:xfrm>
              <a:off x="6407049" y="1953533"/>
              <a:ext cx="991433" cy="378534"/>
              <a:chOff x="2504372" y="1302608"/>
              <a:chExt cx="991433" cy="37853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03E0A80B-DDF1-C0A8-5946-EAB346879A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7642" y="1576396"/>
                <a:ext cx="778163" cy="0"/>
              </a:xfrm>
              <a:prstGeom prst="line">
                <a:avLst/>
              </a:prstGeom>
              <a:ln w="19050">
                <a:solidFill>
                  <a:srgbClr val="FF4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DF33E2A-53A2-968C-DE41-CA0B1C317883}"/>
                  </a:ext>
                </a:extLst>
              </p:cNvPr>
              <p:cNvSpPr/>
              <p:nvPr/>
            </p:nvSpPr>
            <p:spPr>
              <a:xfrm>
                <a:off x="2707538" y="1550561"/>
                <a:ext cx="46180" cy="45719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CD77174-9BC1-CBA2-FEAD-0CD623F8A722}"/>
                  </a:ext>
                </a:extLst>
              </p:cNvPr>
              <p:cNvSpPr txBox="1"/>
              <p:nvPr/>
            </p:nvSpPr>
            <p:spPr>
              <a:xfrm>
                <a:off x="2504372" y="1465698"/>
                <a:ext cx="26481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5’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52D4305-B57A-4C4E-CC6E-887E17AA48E2}"/>
                  </a:ext>
                </a:extLst>
              </p:cNvPr>
              <p:cNvSpPr txBox="1"/>
              <p:nvPr/>
            </p:nvSpPr>
            <p:spPr>
              <a:xfrm>
                <a:off x="2800141" y="1302608"/>
                <a:ext cx="69121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rgbClr val="FF40FF"/>
                    </a:solidFill>
                    <a:latin typeface="Helvetica" pitchFamily="2" charset="0"/>
                  </a:rPr>
                  <a:t>RNA*-</a:t>
                </a:r>
                <a:r>
                  <a:rPr lang="en-US" sz="800" dirty="0">
                    <a:solidFill>
                      <a:srgbClr val="E37201"/>
                    </a:solidFill>
                    <a:latin typeface="Helvetica" pitchFamily="2" charset="0"/>
                  </a:rPr>
                  <a:t>DNA</a:t>
                </a:r>
              </a:p>
            </p:txBody>
          </p:sp>
        </p:grp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444B14F-B088-9B21-6A2B-402783DD273C}"/>
                </a:ext>
              </a:extLst>
            </p:cNvPr>
            <p:cNvCxnSpPr>
              <a:cxnSpLocks/>
            </p:cNvCxnSpPr>
            <p:nvPr/>
          </p:nvCxnSpPr>
          <p:spPr>
            <a:xfrm>
              <a:off x="6620319" y="2314910"/>
              <a:ext cx="778163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FEA7260-6269-2C17-C2F6-1C52CFD5DE3E}"/>
              </a:ext>
            </a:extLst>
          </p:cNvPr>
          <p:cNvCxnSpPr>
            <a:cxnSpLocks/>
          </p:cNvCxnSpPr>
          <p:nvPr/>
        </p:nvCxnSpPr>
        <p:spPr>
          <a:xfrm>
            <a:off x="7591126" y="2888316"/>
            <a:ext cx="125441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379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142">
            <a:extLst>
              <a:ext uri="{FF2B5EF4-FFF2-40B4-BE49-F238E27FC236}">
                <a16:creationId xmlns:a16="http://schemas.microsoft.com/office/drawing/2014/main" id="{EA3FBB51-C359-85C1-CF1E-915FDD0732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4313" t="-7937" r="-10112" b="-2583"/>
          <a:stretch/>
        </p:blipFill>
        <p:spPr>
          <a:xfrm>
            <a:off x="1155032" y="721821"/>
            <a:ext cx="6821495" cy="5221779"/>
          </a:xfrm>
          <a:prstGeom prst="rect">
            <a:avLst/>
          </a:prstGeom>
          <a:ln>
            <a:noFill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4F480D4-8714-579B-5D20-527C4C706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0716" y="1810753"/>
            <a:ext cx="890337" cy="1112921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C28B22FF-68D9-F220-FABE-5C030A7A3169}"/>
              </a:ext>
            </a:extLst>
          </p:cNvPr>
          <p:cNvSpPr/>
          <p:nvPr/>
        </p:nvSpPr>
        <p:spPr>
          <a:xfrm>
            <a:off x="3320715" y="721821"/>
            <a:ext cx="890337" cy="56428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1BD623-C400-01D9-EDAB-639F0A0F0A73}"/>
              </a:ext>
            </a:extLst>
          </p:cNvPr>
          <p:cNvSpPr txBox="1"/>
          <p:nvPr/>
        </p:nvSpPr>
        <p:spPr>
          <a:xfrm>
            <a:off x="601579" y="348916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4A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138840-E757-A173-1775-817C7F9BB079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3827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1A67943-F17F-FA46-EDA3-A0BA1D65ECF1}"/>
              </a:ext>
            </a:extLst>
          </p:cNvPr>
          <p:cNvSpPr txBox="1"/>
          <p:nvPr/>
        </p:nvSpPr>
        <p:spPr>
          <a:xfrm>
            <a:off x="6349631" y="3088107"/>
            <a:ext cx="4651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30mer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0147BC-B236-E417-7DC3-1AA2B1A4A821}"/>
              </a:ext>
            </a:extLst>
          </p:cNvPr>
          <p:cNvCxnSpPr>
            <a:cxnSpLocks/>
          </p:cNvCxnSpPr>
          <p:nvPr/>
        </p:nvCxnSpPr>
        <p:spPr>
          <a:xfrm>
            <a:off x="6687734" y="3206058"/>
            <a:ext cx="8440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B01336C-2A7B-77DC-F785-8C01AEB8C8E5}"/>
              </a:ext>
            </a:extLst>
          </p:cNvPr>
          <p:cNvSpPr txBox="1"/>
          <p:nvPr/>
        </p:nvSpPr>
        <p:spPr>
          <a:xfrm>
            <a:off x="6344019" y="3976027"/>
            <a:ext cx="4651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20mer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359DE4-C272-62EA-3A0B-BA2B207D685E}"/>
              </a:ext>
            </a:extLst>
          </p:cNvPr>
          <p:cNvCxnSpPr>
            <a:cxnSpLocks/>
          </p:cNvCxnSpPr>
          <p:nvPr/>
        </p:nvCxnSpPr>
        <p:spPr>
          <a:xfrm>
            <a:off x="6687734" y="4095763"/>
            <a:ext cx="8440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0F809AD-EE9E-4294-ACA9-759B3AEA0293}"/>
              </a:ext>
            </a:extLst>
          </p:cNvPr>
          <p:cNvCxnSpPr>
            <a:cxnSpLocks/>
          </p:cNvCxnSpPr>
          <p:nvPr/>
        </p:nvCxnSpPr>
        <p:spPr>
          <a:xfrm>
            <a:off x="1265415" y="2432397"/>
            <a:ext cx="139597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671DD7-F85E-9961-50A5-CC014A5528AF}"/>
              </a:ext>
            </a:extLst>
          </p:cNvPr>
          <p:cNvCxnSpPr>
            <a:cxnSpLocks/>
          </p:cNvCxnSpPr>
          <p:nvPr/>
        </p:nvCxnSpPr>
        <p:spPr>
          <a:xfrm>
            <a:off x="7274825" y="1669851"/>
            <a:ext cx="778163" cy="0"/>
          </a:xfrm>
          <a:prstGeom prst="line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87A0C4E-B69F-8D42-624C-8097C3B78C59}"/>
              </a:ext>
            </a:extLst>
          </p:cNvPr>
          <p:cNvSpPr/>
          <p:nvPr/>
        </p:nvSpPr>
        <p:spPr>
          <a:xfrm>
            <a:off x="7264721" y="1644016"/>
            <a:ext cx="46180" cy="4571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988022-E9F3-871D-C8D4-27F9C38A2515}"/>
              </a:ext>
            </a:extLst>
          </p:cNvPr>
          <p:cNvSpPr txBox="1"/>
          <p:nvPr/>
        </p:nvSpPr>
        <p:spPr>
          <a:xfrm>
            <a:off x="7061555" y="1559153"/>
            <a:ext cx="2648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5’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2A286F-37F5-4818-17BB-D5FA7E41EFA9}"/>
              </a:ext>
            </a:extLst>
          </p:cNvPr>
          <p:cNvSpPr txBox="1"/>
          <p:nvPr/>
        </p:nvSpPr>
        <p:spPr>
          <a:xfrm>
            <a:off x="7357324" y="1396063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40FF"/>
                </a:solidFill>
                <a:latin typeface="Helvetica" pitchFamily="2" charset="0"/>
              </a:rPr>
              <a:t>RNA*-</a:t>
            </a:r>
            <a:r>
              <a:rPr lang="en-US" sz="800" dirty="0">
                <a:solidFill>
                  <a:srgbClr val="E37201"/>
                </a:solidFill>
                <a:latin typeface="Helvetica" pitchFamily="2" charset="0"/>
              </a:rPr>
              <a:t>DNA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71C77AB-6CAF-4648-5B64-5D888254B03D}"/>
              </a:ext>
            </a:extLst>
          </p:cNvPr>
          <p:cNvCxnSpPr>
            <a:cxnSpLocks/>
          </p:cNvCxnSpPr>
          <p:nvPr/>
        </p:nvCxnSpPr>
        <p:spPr>
          <a:xfrm>
            <a:off x="7274825" y="1757440"/>
            <a:ext cx="778163" cy="0"/>
          </a:xfrm>
          <a:prstGeom prst="line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73758511-B97B-FE50-002D-17B687BBC478}"/>
              </a:ext>
            </a:extLst>
          </p:cNvPr>
          <p:cNvSpPr/>
          <p:nvPr/>
        </p:nvSpPr>
        <p:spPr>
          <a:xfrm flipH="1">
            <a:off x="6859204" y="2335056"/>
            <a:ext cx="1569836" cy="22556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7A78CA48-250E-91FF-EEC6-A3840F0D6F5B}"/>
              </a:ext>
            </a:extLst>
          </p:cNvPr>
          <p:cNvSpPr/>
          <p:nvPr/>
        </p:nvSpPr>
        <p:spPr>
          <a:xfrm flipH="1">
            <a:off x="8623808" y="2335056"/>
            <a:ext cx="1569836" cy="226665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21372A-937F-5532-A8B1-70004A621E53}"/>
              </a:ext>
            </a:extLst>
          </p:cNvPr>
          <p:cNvCxnSpPr>
            <a:cxnSpLocks/>
          </p:cNvCxnSpPr>
          <p:nvPr/>
        </p:nvCxnSpPr>
        <p:spPr>
          <a:xfrm>
            <a:off x="6874396" y="2106355"/>
            <a:ext cx="155464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E460314-0D06-9D20-9612-16AC31000D6B}"/>
              </a:ext>
            </a:extLst>
          </p:cNvPr>
          <p:cNvCxnSpPr>
            <a:cxnSpLocks/>
          </p:cNvCxnSpPr>
          <p:nvPr/>
        </p:nvCxnSpPr>
        <p:spPr>
          <a:xfrm>
            <a:off x="8623808" y="2106355"/>
            <a:ext cx="155464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EFF771B-8320-2D55-D02D-AF89D48CD02F}"/>
              </a:ext>
            </a:extLst>
          </p:cNvPr>
          <p:cNvCxnSpPr>
            <a:cxnSpLocks/>
          </p:cNvCxnSpPr>
          <p:nvPr/>
        </p:nvCxnSpPr>
        <p:spPr>
          <a:xfrm>
            <a:off x="1809387" y="2164699"/>
            <a:ext cx="424645" cy="0"/>
          </a:xfrm>
          <a:prstGeom prst="line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60D2BEB-321D-B539-8506-161DE126A696}"/>
              </a:ext>
            </a:extLst>
          </p:cNvPr>
          <p:cNvSpPr/>
          <p:nvPr/>
        </p:nvSpPr>
        <p:spPr>
          <a:xfrm>
            <a:off x="1799283" y="2138864"/>
            <a:ext cx="46180" cy="4571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65B002-7CE9-9B19-D8C7-44780EE834A7}"/>
              </a:ext>
            </a:extLst>
          </p:cNvPr>
          <p:cNvSpPr txBox="1"/>
          <p:nvPr/>
        </p:nvSpPr>
        <p:spPr>
          <a:xfrm>
            <a:off x="1596117" y="2054001"/>
            <a:ext cx="2648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5’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2C963C-D4AA-7631-914A-91A2C15A7119}"/>
              </a:ext>
            </a:extLst>
          </p:cNvPr>
          <p:cNvSpPr txBox="1"/>
          <p:nvPr/>
        </p:nvSpPr>
        <p:spPr>
          <a:xfrm>
            <a:off x="1697733" y="1890911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40FF"/>
                </a:solidFill>
                <a:latin typeface="Helvetica" pitchFamily="2" charset="0"/>
              </a:rPr>
              <a:t>RNA*-</a:t>
            </a:r>
            <a:r>
              <a:rPr lang="en-US" sz="800" dirty="0">
                <a:solidFill>
                  <a:srgbClr val="E37201"/>
                </a:solidFill>
                <a:latin typeface="Helvetica" pitchFamily="2" charset="0"/>
              </a:rPr>
              <a:t>DNA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73ED469-420A-44FD-D213-E77D0BBE7B71}"/>
              </a:ext>
            </a:extLst>
          </p:cNvPr>
          <p:cNvCxnSpPr>
            <a:cxnSpLocks/>
          </p:cNvCxnSpPr>
          <p:nvPr/>
        </p:nvCxnSpPr>
        <p:spPr>
          <a:xfrm>
            <a:off x="1809387" y="2252288"/>
            <a:ext cx="424645" cy="0"/>
          </a:xfrm>
          <a:prstGeom prst="line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C826B0-44C5-0A0F-B34B-64727549D903}"/>
              </a:ext>
            </a:extLst>
          </p:cNvPr>
          <p:cNvCxnSpPr>
            <a:cxnSpLocks/>
          </p:cNvCxnSpPr>
          <p:nvPr/>
        </p:nvCxnSpPr>
        <p:spPr>
          <a:xfrm>
            <a:off x="8859163" y="1669851"/>
            <a:ext cx="1067144" cy="0"/>
          </a:xfrm>
          <a:prstGeom prst="line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E493C1BD-AC22-EFCD-A722-7BB995212F5B}"/>
              </a:ext>
            </a:extLst>
          </p:cNvPr>
          <p:cNvSpPr/>
          <p:nvPr/>
        </p:nvSpPr>
        <p:spPr>
          <a:xfrm>
            <a:off x="8849059" y="1644016"/>
            <a:ext cx="46180" cy="4571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EF4251-E2DF-CB22-6C78-699F19B71EE4}"/>
              </a:ext>
            </a:extLst>
          </p:cNvPr>
          <p:cNvSpPr txBox="1"/>
          <p:nvPr/>
        </p:nvSpPr>
        <p:spPr>
          <a:xfrm>
            <a:off x="8645893" y="1559153"/>
            <a:ext cx="2648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</a:rPr>
              <a:t>5’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50F50B-7203-A573-7841-B140431EFE75}"/>
              </a:ext>
            </a:extLst>
          </p:cNvPr>
          <p:cNvSpPr txBox="1"/>
          <p:nvPr/>
        </p:nvSpPr>
        <p:spPr>
          <a:xfrm>
            <a:off x="9060659" y="1396063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40FF"/>
                </a:solidFill>
                <a:latin typeface="Helvetica" pitchFamily="2" charset="0"/>
              </a:rPr>
              <a:t>RNA*-</a:t>
            </a:r>
            <a:r>
              <a:rPr lang="en-US" sz="800" dirty="0">
                <a:solidFill>
                  <a:srgbClr val="E37201"/>
                </a:solidFill>
                <a:latin typeface="Helvetica" pitchFamily="2" charset="0"/>
              </a:rPr>
              <a:t>DNA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3F0C2DB-D7CF-1B61-B301-5486DEDE79DF}"/>
              </a:ext>
            </a:extLst>
          </p:cNvPr>
          <p:cNvCxnSpPr>
            <a:cxnSpLocks/>
          </p:cNvCxnSpPr>
          <p:nvPr/>
        </p:nvCxnSpPr>
        <p:spPr>
          <a:xfrm>
            <a:off x="8859163" y="1757440"/>
            <a:ext cx="1067144" cy="0"/>
          </a:xfrm>
          <a:prstGeom prst="line">
            <a:avLst/>
          </a:prstGeom>
          <a:ln w="19050">
            <a:solidFill>
              <a:srgbClr val="E3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B4235A52-1AB8-B324-DF68-E42BBBE74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-16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60888" y="2435074"/>
            <a:ext cx="5207903" cy="3916688"/>
          </a:xfrm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FA1456-FA44-07DA-19EC-06454B280991}"/>
              </a:ext>
            </a:extLst>
          </p:cNvPr>
          <p:cNvSpPr txBox="1"/>
          <p:nvPr/>
        </p:nvSpPr>
        <p:spPr>
          <a:xfrm>
            <a:off x="634640" y="4485159"/>
            <a:ext cx="4651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10mer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B54CED-F5CD-1271-F16A-E0144D9E9DC5}"/>
              </a:ext>
            </a:extLst>
          </p:cNvPr>
          <p:cNvCxnSpPr>
            <a:cxnSpLocks/>
          </p:cNvCxnSpPr>
          <p:nvPr/>
        </p:nvCxnSpPr>
        <p:spPr>
          <a:xfrm>
            <a:off x="972743" y="4603110"/>
            <a:ext cx="8440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7FBCE79-761A-D164-4A9F-4B713DD68DEE}"/>
              </a:ext>
            </a:extLst>
          </p:cNvPr>
          <p:cNvSpPr txBox="1"/>
          <p:nvPr/>
        </p:nvSpPr>
        <p:spPr>
          <a:xfrm>
            <a:off x="1139606" y="2766223"/>
            <a:ext cx="2736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Helvetica" pitchFamily="2" charset="0"/>
              </a:rPr>
              <a:t>0                                  500   nM </a:t>
            </a:r>
            <a:r>
              <a:rPr lang="en-US" sz="900" dirty="0">
                <a:solidFill>
                  <a:srgbClr val="0432FF"/>
                </a:solidFill>
                <a:latin typeface="Helvetica" pitchFamily="2" charset="0"/>
              </a:rPr>
              <a:t>CDIN1-</a:t>
            </a:r>
            <a:r>
              <a:rPr lang="en-US" sz="900" dirty="0">
                <a:solidFill>
                  <a:srgbClr val="424242"/>
                </a:solidFill>
                <a:latin typeface="Helvetica" pitchFamily="2" charset="0"/>
              </a:rPr>
              <a:t>Codanin-1</a:t>
            </a:r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E78124E6-F6EB-7EB4-3169-9C9C57700EF7}"/>
              </a:ext>
            </a:extLst>
          </p:cNvPr>
          <p:cNvSpPr/>
          <p:nvPr/>
        </p:nvSpPr>
        <p:spPr>
          <a:xfrm flipH="1">
            <a:off x="1265415" y="2553025"/>
            <a:ext cx="1321270" cy="194884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C35665-D118-0E08-697B-15973167B06D}"/>
              </a:ext>
            </a:extLst>
          </p:cNvPr>
          <p:cNvSpPr/>
          <p:nvPr/>
        </p:nvSpPr>
        <p:spPr>
          <a:xfrm>
            <a:off x="1219881" y="1062085"/>
            <a:ext cx="1391518" cy="56428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7A67D1-7B59-0179-322E-83282B9DA0A5}"/>
              </a:ext>
            </a:extLst>
          </p:cNvPr>
          <p:cNvSpPr txBox="1"/>
          <p:nvPr/>
        </p:nvSpPr>
        <p:spPr>
          <a:xfrm>
            <a:off x="333632" y="284205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4D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8F2AB1D-DDB9-298D-627D-A61ABF8BE74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7000" contrast="-10000"/>
                    </a14:imgEffect>
                  </a14:imgLayer>
                </a14:imgProps>
              </a:ext>
            </a:extLst>
          </a:blip>
          <a:srcRect l="33142" t="1678" r="-1667" b="-8493"/>
          <a:stretch/>
        </p:blipFill>
        <p:spPr>
          <a:xfrm>
            <a:off x="6859204" y="2985434"/>
            <a:ext cx="3523086" cy="3331356"/>
          </a:xfrm>
          <a:prstGeom prst="rect">
            <a:avLst/>
          </a:prstGeom>
          <a:ln>
            <a:noFill/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419A592-0C54-25D4-AF6B-036DA3CCEAF9}"/>
              </a:ext>
            </a:extLst>
          </p:cNvPr>
          <p:cNvSpPr txBox="1"/>
          <p:nvPr/>
        </p:nvSpPr>
        <p:spPr>
          <a:xfrm>
            <a:off x="2110294" y="3729587"/>
            <a:ext cx="4651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20mer 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D6594A8-0B78-906C-533C-0BB3AE3391FF}"/>
              </a:ext>
            </a:extLst>
          </p:cNvPr>
          <p:cNvCxnSpPr>
            <a:cxnSpLocks/>
          </p:cNvCxnSpPr>
          <p:nvPr/>
        </p:nvCxnSpPr>
        <p:spPr>
          <a:xfrm>
            <a:off x="2454009" y="3849323"/>
            <a:ext cx="8440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D3F9682-3F74-1DB3-3BE2-4561CD416250}"/>
              </a:ext>
            </a:extLst>
          </p:cNvPr>
          <p:cNvSpPr txBox="1"/>
          <p:nvPr/>
        </p:nvSpPr>
        <p:spPr>
          <a:xfrm>
            <a:off x="3411061" y="3063238"/>
            <a:ext cx="4651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30mer 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75C9E91-A12D-8AF6-9912-560273A59D9F}"/>
              </a:ext>
            </a:extLst>
          </p:cNvPr>
          <p:cNvCxnSpPr>
            <a:cxnSpLocks/>
          </p:cNvCxnSpPr>
          <p:nvPr/>
        </p:nvCxnSpPr>
        <p:spPr>
          <a:xfrm>
            <a:off x="3749164" y="3181189"/>
            <a:ext cx="8440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2D02057-90BD-239F-1B01-295CF80B6C32}"/>
              </a:ext>
            </a:extLst>
          </p:cNvPr>
          <p:cNvSpPr txBox="1"/>
          <p:nvPr/>
        </p:nvSpPr>
        <p:spPr>
          <a:xfrm>
            <a:off x="6859204" y="2650467"/>
            <a:ext cx="50113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                                    500    0                                       500    nM </a:t>
            </a:r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CDIN1-</a:t>
            </a:r>
            <a:r>
              <a:rPr lang="en-US" sz="1000" dirty="0">
                <a:solidFill>
                  <a:srgbClr val="424242"/>
                </a:solidFill>
                <a:latin typeface="Helvetica" pitchFamily="2" charset="0"/>
              </a:rPr>
              <a:t>Codanin-1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0E817-6459-5C4B-A158-3DBDFB1E6369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0828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0F51DD-C9AF-A266-AE2B-7F073026F3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 contrast="-10000"/>
                    </a14:imgEffect>
                  </a14:imgLayer>
                </a14:imgProps>
              </a:ext>
            </a:extLst>
          </a:blip>
          <a:srcRect l="-1768" t="-7922" r="-10862" b="-13211"/>
          <a:stretch/>
        </p:blipFill>
        <p:spPr>
          <a:xfrm rot="5400000">
            <a:off x="1582991" y="228242"/>
            <a:ext cx="7368304" cy="6935591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FEBF9FE-4840-3F96-6843-D141E6BB9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933" y="349078"/>
            <a:ext cx="3153416" cy="5900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8E1E80-157C-C906-CE39-44932E0DDBED}"/>
              </a:ext>
            </a:extLst>
          </p:cNvPr>
          <p:cNvSpPr txBox="1"/>
          <p:nvPr/>
        </p:nvSpPr>
        <p:spPr>
          <a:xfrm>
            <a:off x="654907" y="349078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4F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5C4AA-50C4-92E9-A74E-DBD39163B751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0554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9F98D1-6F6B-262C-4565-47C55C0266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 contrast="-10000"/>
                    </a14:imgEffect>
                  </a14:imgLayer>
                </a14:imgProps>
              </a:ext>
            </a:extLst>
          </a:blip>
          <a:srcRect l="-2345" t="-3568" r="-6219" b="-6529"/>
          <a:stretch/>
        </p:blipFill>
        <p:spPr>
          <a:xfrm rot="5400000" flipH="1">
            <a:off x="2875972" y="-431665"/>
            <a:ext cx="5162647" cy="7003870"/>
          </a:xfrm>
          <a:prstGeom prst="rect">
            <a:avLst/>
          </a:prstGeom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1E9217-8DF1-1DE7-9F86-7B081854BBD2}"/>
              </a:ext>
            </a:extLst>
          </p:cNvPr>
          <p:cNvSpPr txBox="1"/>
          <p:nvPr/>
        </p:nvSpPr>
        <p:spPr>
          <a:xfrm>
            <a:off x="4570208" y="2225130"/>
            <a:ext cx="3748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                                     500    0                                    500   nM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86560D-3992-9DC0-DB2C-863779E2BCE7}"/>
              </a:ext>
            </a:extLst>
          </p:cNvPr>
          <p:cNvGrpSpPr/>
          <p:nvPr/>
        </p:nvGrpSpPr>
        <p:grpSpPr>
          <a:xfrm>
            <a:off x="5664200" y="896440"/>
            <a:ext cx="991433" cy="378534"/>
            <a:chOff x="6407049" y="1953533"/>
            <a:chExt cx="991433" cy="37853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0BE97C-28DB-7FA8-8152-5E54901B2BA6}"/>
                </a:ext>
              </a:extLst>
            </p:cNvPr>
            <p:cNvGrpSpPr/>
            <p:nvPr/>
          </p:nvGrpSpPr>
          <p:grpSpPr>
            <a:xfrm>
              <a:off x="6407049" y="1953533"/>
              <a:ext cx="991433" cy="378534"/>
              <a:chOff x="2504372" y="1302608"/>
              <a:chExt cx="991433" cy="378534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0393279D-29E3-4FCB-2E45-3DBBBE1DF3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7642" y="1576396"/>
                <a:ext cx="778163" cy="0"/>
              </a:xfrm>
              <a:prstGeom prst="line">
                <a:avLst/>
              </a:prstGeom>
              <a:ln w="19050">
                <a:solidFill>
                  <a:srgbClr val="FF4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5B2BD28-82DF-6D06-9275-29E8C6EAAAF3}"/>
                  </a:ext>
                </a:extLst>
              </p:cNvPr>
              <p:cNvSpPr/>
              <p:nvPr/>
            </p:nvSpPr>
            <p:spPr>
              <a:xfrm>
                <a:off x="2707538" y="1550561"/>
                <a:ext cx="46180" cy="45719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E86516-ADC6-EA9A-E547-D6754EB88601}"/>
                  </a:ext>
                </a:extLst>
              </p:cNvPr>
              <p:cNvSpPr txBox="1"/>
              <p:nvPr/>
            </p:nvSpPr>
            <p:spPr>
              <a:xfrm>
                <a:off x="2504372" y="1465698"/>
                <a:ext cx="26481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5’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8332675-3690-F372-D62D-93110A26B120}"/>
                  </a:ext>
                </a:extLst>
              </p:cNvPr>
              <p:cNvSpPr txBox="1"/>
              <p:nvPr/>
            </p:nvSpPr>
            <p:spPr>
              <a:xfrm>
                <a:off x="2800141" y="1302608"/>
                <a:ext cx="69121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rgbClr val="FF40FF"/>
                    </a:solidFill>
                    <a:latin typeface="Helvetica" pitchFamily="2" charset="0"/>
                  </a:rPr>
                  <a:t>RNA*-</a:t>
                </a:r>
                <a:r>
                  <a:rPr lang="en-US" sz="800" dirty="0">
                    <a:solidFill>
                      <a:srgbClr val="E37201"/>
                    </a:solidFill>
                    <a:latin typeface="Helvetica" pitchFamily="2" charset="0"/>
                  </a:rPr>
                  <a:t>DNA</a:t>
                </a:r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D27E708-AF53-310F-8F11-EC3ABACD156B}"/>
                </a:ext>
              </a:extLst>
            </p:cNvPr>
            <p:cNvCxnSpPr>
              <a:cxnSpLocks/>
            </p:cNvCxnSpPr>
            <p:nvPr/>
          </p:nvCxnSpPr>
          <p:spPr>
            <a:xfrm>
              <a:off x="6620319" y="2314910"/>
              <a:ext cx="778163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650AEB-CA9F-F4BE-22AE-2C1BD84A923F}"/>
              </a:ext>
            </a:extLst>
          </p:cNvPr>
          <p:cNvCxnSpPr>
            <a:cxnSpLocks/>
          </p:cNvCxnSpPr>
          <p:nvPr/>
        </p:nvCxnSpPr>
        <p:spPr>
          <a:xfrm>
            <a:off x="4584817" y="1485591"/>
            <a:ext cx="32476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49E4E754-082B-E5C3-3F19-2C622FB82399}"/>
              </a:ext>
            </a:extLst>
          </p:cNvPr>
          <p:cNvSpPr/>
          <p:nvPr/>
        </p:nvSpPr>
        <p:spPr>
          <a:xfrm flipH="1">
            <a:off x="4584817" y="1997182"/>
            <a:ext cx="1575100" cy="217814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2A16D6CC-83DD-FC13-F3D1-A02F259B9ACA}"/>
              </a:ext>
            </a:extLst>
          </p:cNvPr>
          <p:cNvSpPr/>
          <p:nvPr/>
        </p:nvSpPr>
        <p:spPr>
          <a:xfrm flipH="1">
            <a:off x="6257357" y="1991502"/>
            <a:ext cx="1575100" cy="217814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8B96C0-9A6A-7238-52B7-D544D902ECA7}"/>
              </a:ext>
            </a:extLst>
          </p:cNvPr>
          <p:cNvCxnSpPr>
            <a:cxnSpLocks/>
          </p:cNvCxnSpPr>
          <p:nvPr/>
        </p:nvCxnSpPr>
        <p:spPr>
          <a:xfrm>
            <a:off x="4560811" y="1881856"/>
            <a:ext cx="159916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CEE2A80-BEC1-CFD3-65EC-66FF7E2F1438}"/>
              </a:ext>
            </a:extLst>
          </p:cNvPr>
          <p:cNvCxnSpPr>
            <a:cxnSpLocks/>
          </p:cNvCxnSpPr>
          <p:nvPr/>
        </p:nvCxnSpPr>
        <p:spPr>
          <a:xfrm>
            <a:off x="6257357" y="1881856"/>
            <a:ext cx="159916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85F670A-262D-69DC-2A63-3F05474F8C59}"/>
              </a:ext>
            </a:extLst>
          </p:cNvPr>
          <p:cNvSpPr txBox="1"/>
          <p:nvPr/>
        </p:nvSpPr>
        <p:spPr>
          <a:xfrm>
            <a:off x="4728650" y="1598487"/>
            <a:ext cx="14173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2600"/>
                </a:solidFill>
                <a:latin typeface="Helvetica" pitchFamily="2" charset="0"/>
              </a:rPr>
              <a:t>CDIN1</a:t>
            </a:r>
            <a:r>
              <a:rPr lang="en-US" sz="1000" baseline="30000" dirty="0">
                <a:solidFill>
                  <a:srgbClr val="FF2600"/>
                </a:solidFill>
                <a:latin typeface="Helvetica" pitchFamily="2" charset="0"/>
              </a:rPr>
              <a:t>Y94C</a:t>
            </a:r>
            <a:r>
              <a:rPr lang="en-US" sz="1000" dirty="0">
                <a:solidFill>
                  <a:srgbClr val="FF2600"/>
                </a:solidFill>
                <a:latin typeface="Helvetica" pitchFamily="2" charset="0"/>
              </a:rPr>
              <a:t>-</a:t>
            </a:r>
            <a:r>
              <a:rPr lang="en-US" sz="1000" dirty="0">
                <a:solidFill>
                  <a:srgbClr val="424242"/>
                </a:solidFill>
                <a:latin typeface="Helvetica" pitchFamily="2" charset="0"/>
              </a:rPr>
              <a:t>Codanin-1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EF340A-4667-2A35-075D-E2F12BE6DE43}"/>
              </a:ext>
            </a:extLst>
          </p:cNvPr>
          <p:cNvSpPr txBox="1"/>
          <p:nvPr/>
        </p:nvSpPr>
        <p:spPr>
          <a:xfrm>
            <a:off x="6404357" y="1595655"/>
            <a:ext cx="1459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EDC32C"/>
                </a:solidFill>
                <a:latin typeface="Helvetica" pitchFamily="2" charset="0"/>
              </a:rPr>
              <a:t>CDIN1</a:t>
            </a:r>
            <a:r>
              <a:rPr lang="en-US" sz="1000" baseline="30000" dirty="0">
                <a:solidFill>
                  <a:srgbClr val="EDC32C"/>
                </a:solidFill>
                <a:latin typeface="Helvetica" pitchFamily="2" charset="0"/>
              </a:rPr>
              <a:t>L178Q</a:t>
            </a:r>
            <a:r>
              <a:rPr lang="en-US" sz="1000" dirty="0">
                <a:solidFill>
                  <a:srgbClr val="EDC32C"/>
                </a:solidFill>
                <a:latin typeface="Helvetica" pitchFamily="2" charset="0"/>
              </a:rPr>
              <a:t>-</a:t>
            </a:r>
            <a:r>
              <a:rPr lang="en-US" sz="1000" dirty="0">
                <a:solidFill>
                  <a:srgbClr val="424242"/>
                </a:solidFill>
                <a:latin typeface="Helvetica" pitchFamily="2" charset="0"/>
              </a:rPr>
              <a:t>Codanin-1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2351BD-10D7-EC43-F6EC-6709B25AB46F}"/>
              </a:ext>
            </a:extLst>
          </p:cNvPr>
          <p:cNvSpPr txBox="1"/>
          <p:nvPr/>
        </p:nvSpPr>
        <p:spPr>
          <a:xfrm>
            <a:off x="185351" y="13592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6A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D91A1-4E9A-B228-DC49-9ED1CD5B46B4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7814B40-8C68-B4B4-E478-1F6A252DB998}"/>
              </a:ext>
            </a:extLst>
          </p:cNvPr>
          <p:cNvSpPr/>
          <p:nvPr/>
        </p:nvSpPr>
        <p:spPr>
          <a:xfrm>
            <a:off x="4549037" y="135924"/>
            <a:ext cx="3748142" cy="61856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65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479B48A-08E1-5921-853A-51D136D832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 contrast="-20000"/>
                    </a14:imgEffect>
                  </a14:imgLayer>
                </a14:imgProps>
              </a:ext>
            </a:extLst>
          </a:blip>
          <a:srcRect l="-3342" t="-1162" r="-2695" b="-2271"/>
          <a:stretch/>
        </p:blipFill>
        <p:spPr>
          <a:xfrm rot="5400000">
            <a:off x="2716694" y="-308717"/>
            <a:ext cx="4954283" cy="7906424"/>
          </a:xfrm>
          <a:prstGeom prst="rect">
            <a:avLst/>
          </a:prstGeom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1E9217-8DF1-1DE7-9F86-7B081854BBD2}"/>
              </a:ext>
            </a:extLst>
          </p:cNvPr>
          <p:cNvSpPr txBox="1"/>
          <p:nvPr/>
        </p:nvSpPr>
        <p:spPr>
          <a:xfrm>
            <a:off x="6717846" y="1959100"/>
            <a:ext cx="21964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                                       500     nM</a:t>
            </a:r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65DB218F-689D-A885-0737-82BAFDF4D799}"/>
              </a:ext>
            </a:extLst>
          </p:cNvPr>
          <p:cNvSpPr/>
          <p:nvPr/>
        </p:nvSpPr>
        <p:spPr>
          <a:xfrm flipH="1">
            <a:off x="6840850" y="1742595"/>
            <a:ext cx="1575100" cy="217814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86560D-3992-9DC0-DB2C-863779E2BCE7}"/>
              </a:ext>
            </a:extLst>
          </p:cNvPr>
          <p:cNvGrpSpPr/>
          <p:nvPr/>
        </p:nvGrpSpPr>
        <p:grpSpPr>
          <a:xfrm>
            <a:off x="7132683" y="672683"/>
            <a:ext cx="991433" cy="378534"/>
            <a:chOff x="6407049" y="1953533"/>
            <a:chExt cx="991433" cy="37853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0BE97C-28DB-7FA8-8152-5E54901B2BA6}"/>
                </a:ext>
              </a:extLst>
            </p:cNvPr>
            <p:cNvGrpSpPr/>
            <p:nvPr/>
          </p:nvGrpSpPr>
          <p:grpSpPr>
            <a:xfrm>
              <a:off x="6407049" y="1953533"/>
              <a:ext cx="991433" cy="378534"/>
              <a:chOff x="2504372" y="1302608"/>
              <a:chExt cx="991433" cy="378534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0393279D-29E3-4FCB-2E45-3DBBBE1DF3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7642" y="1576396"/>
                <a:ext cx="778163" cy="0"/>
              </a:xfrm>
              <a:prstGeom prst="line">
                <a:avLst/>
              </a:prstGeom>
              <a:ln w="19050">
                <a:solidFill>
                  <a:srgbClr val="FF4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5B2BD28-82DF-6D06-9275-29E8C6EAAAF3}"/>
                  </a:ext>
                </a:extLst>
              </p:cNvPr>
              <p:cNvSpPr/>
              <p:nvPr/>
            </p:nvSpPr>
            <p:spPr>
              <a:xfrm>
                <a:off x="2707538" y="1550561"/>
                <a:ext cx="46180" cy="45719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E86516-ADC6-EA9A-E547-D6754EB88601}"/>
                  </a:ext>
                </a:extLst>
              </p:cNvPr>
              <p:cNvSpPr txBox="1"/>
              <p:nvPr/>
            </p:nvSpPr>
            <p:spPr>
              <a:xfrm>
                <a:off x="2504372" y="1465698"/>
                <a:ext cx="26481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5’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8332675-3690-F372-D62D-93110A26B120}"/>
                  </a:ext>
                </a:extLst>
              </p:cNvPr>
              <p:cNvSpPr txBox="1"/>
              <p:nvPr/>
            </p:nvSpPr>
            <p:spPr>
              <a:xfrm>
                <a:off x="2800141" y="1302608"/>
                <a:ext cx="69121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rgbClr val="FF40FF"/>
                    </a:solidFill>
                    <a:latin typeface="Helvetica" pitchFamily="2" charset="0"/>
                  </a:rPr>
                  <a:t>RNA*-</a:t>
                </a:r>
                <a:r>
                  <a:rPr lang="en-US" sz="800" dirty="0">
                    <a:solidFill>
                      <a:srgbClr val="E37201"/>
                    </a:solidFill>
                    <a:latin typeface="Helvetica" pitchFamily="2" charset="0"/>
                  </a:rPr>
                  <a:t>DNA</a:t>
                </a:r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D27E708-AF53-310F-8F11-EC3ABACD156B}"/>
                </a:ext>
              </a:extLst>
            </p:cNvPr>
            <p:cNvCxnSpPr>
              <a:cxnSpLocks/>
            </p:cNvCxnSpPr>
            <p:nvPr/>
          </p:nvCxnSpPr>
          <p:spPr>
            <a:xfrm>
              <a:off x="6620319" y="2314910"/>
              <a:ext cx="778163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1D822AB-D22D-E706-FE9E-109CEE533585}"/>
              </a:ext>
            </a:extLst>
          </p:cNvPr>
          <p:cNvSpPr txBox="1"/>
          <p:nvPr/>
        </p:nvSpPr>
        <p:spPr>
          <a:xfrm>
            <a:off x="7092827" y="1341068"/>
            <a:ext cx="12009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CDIN1-</a:t>
            </a:r>
            <a:r>
              <a:rPr lang="en-US" sz="1000" dirty="0">
                <a:solidFill>
                  <a:srgbClr val="424242"/>
                </a:solidFill>
                <a:latin typeface="Helvetica" pitchFamily="2" charset="0"/>
              </a:rPr>
              <a:t>Codanin-1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CF9AB85-EEF3-DA43-74C5-ADDAA3FD7D62}"/>
              </a:ext>
            </a:extLst>
          </p:cNvPr>
          <p:cNvCxnSpPr>
            <a:cxnSpLocks/>
          </p:cNvCxnSpPr>
          <p:nvPr/>
        </p:nvCxnSpPr>
        <p:spPr>
          <a:xfrm>
            <a:off x="6816786" y="1627269"/>
            <a:ext cx="159916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650AEB-CA9F-F4BE-22AE-2C1BD84A923F}"/>
              </a:ext>
            </a:extLst>
          </p:cNvPr>
          <p:cNvCxnSpPr>
            <a:cxnSpLocks/>
          </p:cNvCxnSpPr>
          <p:nvPr/>
        </p:nvCxnSpPr>
        <p:spPr>
          <a:xfrm>
            <a:off x="6951590" y="1185528"/>
            <a:ext cx="146436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32351BD-10D7-EC43-F6EC-6709B25AB46F}"/>
              </a:ext>
            </a:extLst>
          </p:cNvPr>
          <p:cNvSpPr txBox="1"/>
          <p:nvPr/>
        </p:nvSpPr>
        <p:spPr>
          <a:xfrm>
            <a:off x="185351" y="13592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6A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F01A66-41C9-0A81-1B3F-A34AA4A09918}"/>
              </a:ext>
            </a:extLst>
          </p:cNvPr>
          <p:cNvSpPr/>
          <p:nvPr/>
        </p:nvSpPr>
        <p:spPr>
          <a:xfrm>
            <a:off x="6752314" y="91538"/>
            <a:ext cx="2196435" cy="61856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673633-0B79-1EAA-BA84-5EC0A9C02829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3471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D61B9B-2656-B5E3-2AA2-9FD88B6E3C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2291" t="-2753" r="-1169" b="-3602"/>
          <a:stretch/>
        </p:blipFill>
        <p:spPr>
          <a:xfrm>
            <a:off x="2304254" y="1232848"/>
            <a:ext cx="7268801" cy="5375566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8D4A91-1633-C4CB-820B-5607C1F6944F}"/>
              </a:ext>
            </a:extLst>
          </p:cNvPr>
          <p:cNvSpPr txBox="1"/>
          <p:nvPr/>
        </p:nvSpPr>
        <p:spPr>
          <a:xfrm>
            <a:off x="3845446" y="2331297"/>
            <a:ext cx="46378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0                500      0                 500      0                 500     0                 500   nM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EDC0EFF-950D-5186-E819-A1B1F244DB85}"/>
              </a:ext>
            </a:extLst>
          </p:cNvPr>
          <p:cNvCxnSpPr>
            <a:cxnSpLocks/>
          </p:cNvCxnSpPr>
          <p:nvPr/>
        </p:nvCxnSpPr>
        <p:spPr>
          <a:xfrm>
            <a:off x="3888021" y="2069691"/>
            <a:ext cx="8952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866BDE18-8227-30CD-6B72-8C52D5934BBC}"/>
              </a:ext>
            </a:extLst>
          </p:cNvPr>
          <p:cNvGrpSpPr/>
          <p:nvPr/>
        </p:nvGrpSpPr>
        <p:grpSpPr>
          <a:xfrm>
            <a:off x="5188133" y="1183420"/>
            <a:ext cx="991433" cy="378534"/>
            <a:chOff x="6407049" y="1953533"/>
            <a:chExt cx="991433" cy="3785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8FCA0CB-6645-2C32-0A6F-0E21E6D29F2F}"/>
                </a:ext>
              </a:extLst>
            </p:cNvPr>
            <p:cNvGrpSpPr/>
            <p:nvPr/>
          </p:nvGrpSpPr>
          <p:grpSpPr>
            <a:xfrm>
              <a:off x="6407049" y="1953533"/>
              <a:ext cx="991433" cy="378534"/>
              <a:chOff x="2504372" y="1302608"/>
              <a:chExt cx="991433" cy="378534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857A31CD-A8D8-8E32-E448-4A9E07D786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7642" y="1576396"/>
                <a:ext cx="778163" cy="0"/>
              </a:xfrm>
              <a:prstGeom prst="line">
                <a:avLst/>
              </a:prstGeom>
              <a:ln w="19050">
                <a:solidFill>
                  <a:srgbClr val="FF4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9347298-6B11-FE8F-CB10-9282DF5C3464}"/>
                  </a:ext>
                </a:extLst>
              </p:cNvPr>
              <p:cNvSpPr/>
              <p:nvPr/>
            </p:nvSpPr>
            <p:spPr>
              <a:xfrm>
                <a:off x="2707538" y="1550561"/>
                <a:ext cx="46180" cy="45719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51321C-20B1-DF14-D524-B0CF3F26292B}"/>
                  </a:ext>
                </a:extLst>
              </p:cNvPr>
              <p:cNvSpPr txBox="1"/>
              <p:nvPr/>
            </p:nvSpPr>
            <p:spPr>
              <a:xfrm>
                <a:off x="2504372" y="1465698"/>
                <a:ext cx="26481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5’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6F894A-9898-C5C6-F019-7BE83B66172A}"/>
                  </a:ext>
                </a:extLst>
              </p:cNvPr>
              <p:cNvSpPr txBox="1"/>
              <p:nvPr/>
            </p:nvSpPr>
            <p:spPr>
              <a:xfrm>
                <a:off x="2800141" y="1302608"/>
                <a:ext cx="69121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rgbClr val="FF40FF"/>
                    </a:solidFill>
                    <a:latin typeface="Helvetica" pitchFamily="2" charset="0"/>
                  </a:rPr>
                  <a:t>RNA*</a:t>
                </a:r>
                <a:r>
                  <a:rPr lang="en-US" sz="800" dirty="0">
                    <a:solidFill>
                      <a:srgbClr val="DEA8C4"/>
                    </a:solidFill>
                    <a:latin typeface="Helvetica" pitchFamily="2" charset="0"/>
                  </a:rPr>
                  <a:t>-</a:t>
                </a:r>
                <a:r>
                  <a:rPr lang="en-US" sz="800" dirty="0">
                    <a:solidFill>
                      <a:srgbClr val="E37201"/>
                    </a:solidFill>
                    <a:latin typeface="Helvetica" pitchFamily="2" charset="0"/>
                  </a:rPr>
                  <a:t>DNA</a:t>
                </a:r>
              </a:p>
            </p:txBody>
          </p: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E08963F-05B7-CCEC-5A2F-A38DA69E41C0}"/>
                </a:ext>
              </a:extLst>
            </p:cNvPr>
            <p:cNvCxnSpPr>
              <a:cxnSpLocks/>
            </p:cNvCxnSpPr>
            <p:nvPr/>
          </p:nvCxnSpPr>
          <p:spPr>
            <a:xfrm>
              <a:off x="6620319" y="2314910"/>
              <a:ext cx="778163" cy="0"/>
            </a:xfrm>
            <a:prstGeom prst="line">
              <a:avLst/>
            </a:prstGeom>
            <a:ln w="19050">
              <a:solidFill>
                <a:srgbClr val="E3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C13E305-BF46-92DB-CBCD-63399C5EC424}"/>
              </a:ext>
            </a:extLst>
          </p:cNvPr>
          <p:cNvSpPr txBox="1"/>
          <p:nvPr/>
        </p:nvSpPr>
        <p:spPr>
          <a:xfrm>
            <a:off x="5114463" y="1792991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4C5C34-7EB1-22D8-BE70-48ED80BC2DBC}"/>
              </a:ext>
            </a:extLst>
          </p:cNvPr>
          <p:cNvCxnSpPr>
            <a:cxnSpLocks/>
          </p:cNvCxnSpPr>
          <p:nvPr/>
        </p:nvCxnSpPr>
        <p:spPr>
          <a:xfrm>
            <a:off x="3888021" y="1683481"/>
            <a:ext cx="410126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7557208-BE18-3DE9-97C0-08BC8C905881}"/>
              </a:ext>
            </a:extLst>
          </p:cNvPr>
          <p:cNvSpPr txBox="1"/>
          <p:nvPr/>
        </p:nvSpPr>
        <p:spPr>
          <a:xfrm>
            <a:off x="3758933" y="1792991"/>
            <a:ext cx="12009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Helvetica" pitchFamily="2" charset="0"/>
              </a:rPr>
              <a:t>CDIN1-</a:t>
            </a:r>
            <a:r>
              <a:rPr lang="en-US" sz="1000" dirty="0">
                <a:solidFill>
                  <a:srgbClr val="424242"/>
                </a:solidFill>
                <a:latin typeface="Helvetica" pitchFamily="2" charset="0"/>
              </a:rPr>
              <a:t>Codanin-1</a:t>
            </a:r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B45DD0DB-0AAC-BFE9-EB5B-9480D4FA4FDA}"/>
              </a:ext>
            </a:extLst>
          </p:cNvPr>
          <p:cNvSpPr/>
          <p:nvPr/>
        </p:nvSpPr>
        <p:spPr>
          <a:xfrm flipH="1">
            <a:off x="3896388" y="2163062"/>
            <a:ext cx="878506" cy="175989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41" name="Right Triangle 40">
            <a:extLst>
              <a:ext uri="{FF2B5EF4-FFF2-40B4-BE49-F238E27FC236}">
                <a16:creationId xmlns:a16="http://schemas.microsoft.com/office/drawing/2014/main" id="{3E46C171-5148-76F2-36BE-E06045E77B8E}"/>
              </a:ext>
            </a:extLst>
          </p:cNvPr>
          <p:cNvSpPr/>
          <p:nvPr/>
        </p:nvSpPr>
        <p:spPr>
          <a:xfrm flipH="1">
            <a:off x="4959903" y="2163062"/>
            <a:ext cx="878506" cy="17599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18C348A8-064B-A5AD-006B-F2513C849420}"/>
              </a:ext>
            </a:extLst>
          </p:cNvPr>
          <p:cNvSpPr/>
          <p:nvPr/>
        </p:nvSpPr>
        <p:spPr>
          <a:xfrm flipH="1">
            <a:off x="6030534" y="2163060"/>
            <a:ext cx="878506" cy="175991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4C5A9F2B-14BC-8863-AB79-7A583A602CAF}"/>
              </a:ext>
            </a:extLst>
          </p:cNvPr>
          <p:cNvSpPr/>
          <p:nvPr/>
        </p:nvSpPr>
        <p:spPr>
          <a:xfrm flipH="1">
            <a:off x="7094049" y="2163060"/>
            <a:ext cx="878506" cy="175992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CBFA9D5-76EA-B058-A07D-5E1C9502431F}"/>
              </a:ext>
            </a:extLst>
          </p:cNvPr>
          <p:cNvCxnSpPr>
            <a:cxnSpLocks/>
          </p:cNvCxnSpPr>
          <p:nvPr/>
        </p:nvCxnSpPr>
        <p:spPr>
          <a:xfrm>
            <a:off x="4951536" y="2069691"/>
            <a:ext cx="8952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D5727D4-560A-63D7-8FFC-68CAF076C2BE}"/>
              </a:ext>
            </a:extLst>
          </p:cNvPr>
          <p:cNvCxnSpPr>
            <a:cxnSpLocks/>
          </p:cNvCxnSpPr>
          <p:nvPr/>
        </p:nvCxnSpPr>
        <p:spPr>
          <a:xfrm>
            <a:off x="6032184" y="2069691"/>
            <a:ext cx="8952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953422E-8E35-219A-902F-E0FBF6B0DB55}"/>
              </a:ext>
            </a:extLst>
          </p:cNvPr>
          <p:cNvCxnSpPr>
            <a:cxnSpLocks/>
          </p:cNvCxnSpPr>
          <p:nvPr/>
        </p:nvCxnSpPr>
        <p:spPr>
          <a:xfrm>
            <a:off x="7094049" y="2069691"/>
            <a:ext cx="89524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08D480B-A23D-9CA2-B8EE-4EA34DE29237}"/>
              </a:ext>
            </a:extLst>
          </p:cNvPr>
          <p:cNvSpPr txBox="1"/>
          <p:nvPr/>
        </p:nvSpPr>
        <p:spPr>
          <a:xfrm>
            <a:off x="6086908" y="1792991"/>
            <a:ext cx="7857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2600"/>
                </a:solidFill>
                <a:latin typeface="Helvetica" pitchFamily="2" charset="0"/>
              </a:rPr>
              <a:t>CDIN1</a:t>
            </a:r>
            <a:r>
              <a:rPr lang="en-US" sz="1000" baseline="30000" dirty="0">
                <a:solidFill>
                  <a:srgbClr val="FF2600"/>
                </a:solidFill>
                <a:latin typeface="Helvetica" pitchFamily="2" charset="0"/>
              </a:rPr>
              <a:t>Y94C</a:t>
            </a:r>
            <a:endParaRPr lang="en-US" sz="1000" dirty="0">
              <a:solidFill>
                <a:srgbClr val="FF2600"/>
              </a:solidFill>
              <a:latin typeface="Helvetica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39E609-AF32-441C-C42A-71EF300B2C48}"/>
              </a:ext>
            </a:extLst>
          </p:cNvPr>
          <p:cNvSpPr txBox="1"/>
          <p:nvPr/>
        </p:nvSpPr>
        <p:spPr>
          <a:xfrm>
            <a:off x="7127934" y="1792991"/>
            <a:ext cx="8274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ECC72A"/>
                </a:solidFill>
                <a:latin typeface="Helvetica" pitchFamily="2" charset="0"/>
              </a:rPr>
              <a:t>CDIN1</a:t>
            </a:r>
            <a:r>
              <a:rPr lang="en-US" sz="1000" baseline="30000" dirty="0">
                <a:solidFill>
                  <a:srgbClr val="ECC72A"/>
                </a:solidFill>
                <a:latin typeface="Helvetica" pitchFamily="2" charset="0"/>
              </a:rPr>
              <a:t>L178Q</a:t>
            </a:r>
            <a:endParaRPr lang="en-US" sz="1000" dirty="0">
              <a:solidFill>
                <a:srgbClr val="ECC72A"/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D3FFA6-6301-3F1C-0FBC-59E8DC4ED2E0}"/>
              </a:ext>
            </a:extLst>
          </p:cNvPr>
          <p:cNvSpPr txBox="1"/>
          <p:nvPr/>
        </p:nvSpPr>
        <p:spPr>
          <a:xfrm>
            <a:off x="333632" y="271849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6B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C55D49-2312-2132-8469-2A52E437B9FD}"/>
              </a:ext>
            </a:extLst>
          </p:cNvPr>
          <p:cNvSpPr/>
          <p:nvPr/>
        </p:nvSpPr>
        <p:spPr>
          <a:xfrm>
            <a:off x="3807813" y="1062681"/>
            <a:ext cx="4335290" cy="55457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0B55D6-E521-AF87-5665-D732205A97A1}"/>
              </a:ext>
            </a:extLst>
          </p:cNvPr>
          <p:cNvSpPr txBox="1"/>
          <p:nvPr/>
        </p:nvSpPr>
        <p:spPr>
          <a:xfrm>
            <a:off x="10478530" y="6364705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Radiolabelled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8038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Macintosh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Office Theme</vt:lpstr>
      <vt:lpstr>Nuclease Assays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Nuclease Assays</dc:title>
  <dc:creator>Sanja Brolih</dc:creator>
  <cp:lastModifiedBy>Sanja Brolih</cp:lastModifiedBy>
  <cp:revision>1</cp:revision>
  <dcterms:created xsi:type="dcterms:W3CDTF">2026-02-23T16:11:05Z</dcterms:created>
  <dcterms:modified xsi:type="dcterms:W3CDTF">2026-02-23T16:11:30Z</dcterms:modified>
</cp:coreProperties>
</file>